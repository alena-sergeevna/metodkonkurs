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102" y="5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85CA13A-CD81-4AEE-AA45-400CDC66E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187A234-414B-4834-843B-28B271F8F7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1D7DB235-307A-4DB9-9888-DFE441931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D1690CC-D824-49B4-A5BC-D1B10F942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2DEE80B5-256B-4AD5-8C32-98220FA2C9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C85A4335-3760-4461-AB96-614957582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028AA83-384A-4DF9-995A-F9C394707D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9B32A39D-BA1D-4567-9A90-E78F731E810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EC0B552-1663-499D-9D57-F2EF1A157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FE460DF-6AAB-47CD-A8BD-498B5274AD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7BE5F6B6-6847-4876-8E46-868EE8938A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oundRect">
            <a:avLst>
              <a:gd name="adj" fmla="val 50000"/>
            </a:avLst>
          </a:prstGeom>
          <a:solidFill>
            <a:srgbClr val="3978A8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1535EF4-5B7E-4688-AC96-BADF747653C0}"/>
              </a:ext>
            </a:extLst>
          </p:cNvPr>
          <p:cNvSpPr>
            <a:spLocks noGrp="1"/>
          </p:cNvSpPr>
          <p:nvPr/>
        </p:nvSpPr>
        <p:spPr>
          <a:xfrm>
            <a:off x="685800" y="276225"/>
            <a:ext cx="10820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ЗАНЯТИЕ 2 · МОДЕЛИ, СВЯЗИ И CRUD · ПЛАН ЗАНЯТИЯ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101BD0B-13EF-4C90-BAFA-E0AA0FE48283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Занятие 2 · Модели, связи и CRUD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2F0D52A-2837-49D7-AB50-853E1D0E3DBA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714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7222"/>
          </a:bodyPr>
          <a:lstStyle>
            <a:defPPr algn="l"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МДК.09.01 · REST API на Laravel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A5D2D2A-A904-486D-90CC-15D2E7171AC8}"/>
              </a:ext>
            </a:extLst>
          </p:cNvPr>
          <p:cNvSpPr>
            <a:spLocks noGrp="1"/>
          </p:cNvSpPr>
          <p:nvPr/>
        </p:nvSpPr>
        <p:spPr>
          <a:xfrm>
            <a:off x="10572750" y="649605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7222"/>
          </a:bodyPr>
          <a:lstStyle>
            <a:defPPr algn="r"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77C"/>
                </a:solidFill>
                <a:latin typeface="Arial"/>
                <a:ea typeface="Arial"/>
                <a:cs typeface="Arial"/>
              </a:rPr>
              <a:t>01 / 11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E5F27E88-2963-4A47-BA5E-7FFAC6E9ED36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895350"/>
          </a:xfrm>
          <a:prstGeom prst="roundRect">
            <a:avLst>
              <a:gd name="adj" fmla="val 8511"/>
            </a:avLst>
          </a:prstGeom>
          <a:solidFill>
            <a:srgbClr val="EAF4F8"/>
          </a:solidFill>
          <a:ln w="0">
            <a:noFill/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54ED83A-6E9B-448A-A2E7-9A5793803B62}"/>
              </a:ext>
            </a:extLst>
          </p:cNvPr>
          <p:cNvSpPr>
            <a:spLocks noGrp="1"/>
          </p:cNvSpPr>
          <p:nvPr/>
        </p:nvSpPr>
        <p:spPr>
          <a:xfrm>
            <a:off x="895350" y="15240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Цель занятия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F3881AC-D299-451A-9610-6605C93AB6DD}"/>
              </a:ext>
            </a:extLst>
          </p:cNvPr>
          <p:cNvSpPr>
            <a:spLocks noGrp="1"/>
          </p:cNvSpPr>
          <p:nvPr/>
        </p:nvSpPr>
        <p:spPr>
          <a:xfrm>
            <a:off x="2724150" y="1495425"/>
            <a:ext cx="8524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Показать, как Eloquent связывает таблицы с PHP-классами, а маршрут и контроллер реализуют операции над ресурсом.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D93DA9AF-63FA-4C1A-A9EC-B9245E16EB5C}"/>
              </a:ext>
            </a:extLst>
          </p:cNvPr>
          <p:cNvSpPr>
            <a:spLocks noGrp="1"/>
          </p:cNvSpPr>
          <p:nvPr/>
        </p:nvSpPr>
        <p:spPr>
          <a:xfrm>
            <a:off x="685800" y="2524125"/>
            <a:ext cx="3371850" cy="1238250"/>
          </a:xfrm>
          <a:prstGeom prst="roundRect">
            <a:avLst>
              <a:gd name="adj" fmla="val 6154"/>
            </a:avLst>
          </a:prstGeom>
          <a:solidFill>
            <a:srgbClr val="E9F5EF"/>
          </a:solidFill>
          <a:ln w="0">
            <a:noFill/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41B86134-B8CF-4825-87D9-094352C091F4}"/>
              </a:ext>
            </a:extLst>
          </p:cNvPr>
          <p:cNvSpPr>
            <a:spLocks noGrp="1"/>
          </p:cNvSpPr>
          <p:nvPr/>
        </p:nvSpPr>
        <p:spPr>
          <a:xfrm>
            <a:off x="857250" y="2667000"/>
            <a:ext cx="30289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lang="ru-RU" sz="1275" b="1" dirty="0">
                <a:solidFill>
                  <a:srgbClr val="3978A8"/>
                </a:solidFill>
                <a:latin typeface="Arial"/>
                <a:ea typeface="Arial"/>
                <a:cs typeface="Arial"/>
              </a:rPr>
              <a:t>Этап </a:t>
            </a:r>
            <a:r>
              <a:rPr sz="1275" b="1" dirty="0">
                <a:solidFill>
                  <a:srgbClr val="3978A8"/>
                </a:solidFill>
                <a:latin typeface="Arial"/>
                <a:ea typeface="Arial"/>
                <a:cs typeface="Arial"/>
              </a:rPr>
              <a:t>· </a:t>
            </a:r>
            <a:r>
              <a:rPr sz="1275" b="1" dirty="0" err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мотивация</a:t>
            </a:r>
            <a:endParaRPr sz="1275" b="1" dirty="0">
              <a:solidFill>
                <a:srgbClr val="3978A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9164ECA-EC3D-4E87-B8FC-6910EF806854}"/>
              </a:ext>
            </a:extLst>
          </p:cNvPr>
          <p:cNvSpPr>
            <a:spLocks noGrp="1"/>
          </p:cNvSpPr>
          <p:nvPr/>
        </p:nvSpPr>
        <p:spPr>
          <a:xfrm>
            <a:off x="857250" y="2990850"/>
            <a:ext cx="30289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Как заявка узнаёт, с каким оборудованием она связана?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DE10D43A-7D59-466A-B13C-D8C2C32D9E8E}"/>
              </a:ext>
            </a:extLst>
          </p:cNvPr>
          <p:cNvSpPr>
            <a:spLocks noGrp="1"/>
          </p:cNvSpPr>
          <p:nvPr/>
        </p:nvSpPr>
        <p:spPr>
          <a:xfrm>
            <a:off x="4286250" y="2524125"/>
            <a:ext cx="3371850" cy="1238250"/>
          </a:xfrm>
          <a:prstGeom prst="roundRect">
            <a:avLst>
              <a:gd name="adj" fmla="val 6154"/>
            </a:avLst>
          </a:prstGeom>
          <a:solidFill>
            <a:srgbClr val="FFF8E9"/>
          </a:solidFill>
          <a:ln w="0">
            <a:noFill/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FB4BB1D-56D2-4402-903C-698493DA44C3}"/>
              </a:ext>
            </a:extLst>
          </p:cNvPr>
          <p:cNvSpPr>
            <a:spLocks noGrp="1"/>
          </p:cNvSpPr>
          <p:nvPr/>
        </p:nvSpPr>
        <p:spPr>
          <a:xfrm>
            <a:off x="4457700" y="2667000"/>
            <a:ext cx="30289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lang="ru-RU" sz="1275" b="1" dirty="0">
                <a:solidFill>
                  <a:srgbClr val="3978A8"/>
                </a:solidFill>
                <a:latin typeface="Arial"/>
                <a:ea typeface="Arial"/>
                <a:cs typeface="Arial"/>
              </a:rPr>
              <a:t>Этап</a:t>
            </a:r>
            <a:r>
              <a:rPr sz="1275" b="1" dirty="0">
                <a:solidFill>
                  <a:srgbClr val="3978A8"/>
                </a:solidFill>
                <a:latin typeface="Arial"/>
                <a:ea typeface="Arial"/>
                <a:cs typeface="Arial"/>
              </a:rPr>
              <a:t> · </a:t>
            </a:r>
            <a:r>
              <a:rPr sz="1275" b="1" dirty="0" err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актуализация</a:t>
            </a:r>
            <a:endParaRPr sz="1275" b="1" dirty="0">
              <a:solidFill>
                <a:srgbClr val="3978A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C41004D7-27C4-4356-9566-865A74A9F0F3}"/>
              </a:ext>
            </a:extLst>
          </p:cNvPr>
          <p:cNvSpPr>
            <a:spLocks noGrp="1"/>
          </p:cNvSpPr>
          <p:nvPr/>
        </p:nvSpPr>
        <p:spPr>
          <a:xfrm>
            <a:off x="4457700" y="2990850"/>
            <a:ext cx="30289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Восстановить схему requests и equipment, найти внешний ключ.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E5B25E61-0417-448D-8541-7BEBB62BE6EF}"/>
              </a:ext>
            </a:extLst>
          </p:cNvPr>
          <p:cNvSpPr>
            <a:spLocks noGrp="1"/>
          </p:cNvSpPr>
          <p:nvPr/>
        </p:nvSpPr>
        <p:spPr>
          <a:xfrm>
            <a:off x="7886700" y="2524125"/>
            <a:ext cx="3371850" cy="1238250"/>
          </a:xfrm>
          <a:prstGeom prst="roundRect">
            <a:avLst>
              <a:gd name="adj" fmla="val 6154"/>
            </a:avLst>
          </a:prstGeom>
          <a:solidFill>
            <a:srgbClr val="EAF4F8"/>
          </a:solidFill>
          <a:ln w="0">
            <a:noFill/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8BE8C9F-F0C6-4367-8426-A24F9FE8F829}"/>
              </a:ext>
            </a:extLst>
          </p:cNvPr>
          <p:cNvSpPr>
            <a:spLocks noGrp="1"/>
          </p:cNvSpPr>
          <p:nvPr/>
        </p:nvSpPr>
        <p:spPr>
          <a:xfrm>
            <a:off x="8058150" y="2667000"/>
            <a:ext cx="30289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lang="ru-RU" sz="1275" b="1" dirty="0">
                <a:solidFill>
                  <a:srgbClr val="3978A8"/>
                </a:solidFill>
                <a:latin typeface="Arial"/>
                <a:ea typeface="Arial"/>
                <a:cs typeface="Arial"/>
              </a:rPr>
              <a:t>Этап</a:t>
            </a:r>
            <a:r>
              <a:rPr sz="1275" b="1" dirty="0">
                <a:solidFill>
                  <a:srgbClr val="3978A8"/>
                </a:solidFill>
                <a:latin typeface="Arial"/>
                <a:ea typeface="Arial"/>
                <a:cs typeface="Arial"/>
              </a:rPr>
              <a:t> · </a:t>
            </a:r>
            <a:r>
              <a:rPr sz="1275" b="1" dirty="0" err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объяснение</a:t>
            </a:r>
            <a:endParaRPr sz="1275" b="1" dirty="0">
              <a:solidFill>
                <a:srgbClr val="3978A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7EC7D19-76AF-4FB9-B560-B581EAEA7435}"/>
              </a:ext>
            </a:extLst>
          </p:cNvPr>
          <p:cNvSpPr>
            <a:spLocks noGrp="1"/>
          </p:cNvSpPr>
          <p:nvPr/>
        </p:nvSpPr>
        <p:spPr>
          <a:xfrm>
            <a:off x="8058150" y="2990850"/>
            <a:ext cx="30289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Eloquent, модель и разрешённые для заполнения поля.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6489605D-0BFA-4969-B655-79614B5AAEE0}"/>
              </a:ext>
            </a:extLst>
          </p:cNvPr>
          <p:cNvSpPr>
            <a:spLocks noGrp="1"/>
          </p:cNvSpPr>
          <p:nvPr/>
        </p:nvSpPr>
        <p:spPr>
          <a:xfrm>
            <a:off x="685800" y="4019550"/>
            <a:ext cx="3371850" cy="1238250"/>
          </a:xfrm>
          <a:prstGeom prst="roundRect">
            <a:avLst>
              <a:gd name="adj" fmla="val 6154"/>
            </a:avLst>
          </a:prstGeom>
          <a:solidFill>
            <a:srgbClr val="FFF8E9"/>
          </a:solidFill>
          <a:ln w="0">
            <a:noFill/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17B0D80C-BC6C-4B14-A672-54527A7B714B}"/>
              </a:ext>
            </a:extLst>
          </p:cNvPr>
          <p:cNvSpPr>
            <a:spLocks noGrp="1"/>
          </p:cNvSpPr>
          <p:nvPr/>
        </p:nvSpPr>
        <p:spPr>
          <a:xfrm>
            <a:off x="857250" y="4162425"/>
            <a:ext cx="30289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lang="ru-RU" sz="1275" b="1" dirty="0">
                <a:solidFill>
                  <a:srgbClr val="3978A8"/>
                </a:solidFill>
                <a:latin typeface="Arial"/>
                <a:ea typeface="Arial"/>
                <a:cs typeface="Arial"/>
              </a:rPr>
              <a:t>Этап </a:t>
            </a:r>
            <a:r>
              <a:rPr sz="1275" b="1" dirty="0">
                <a:solidFill>
                  <a:srgbClr val="3978A8"/>
                </a:solidFill>
                <a:latin typeface="Arial"/>
                <a:ea typeface="Arial"/>
                <a:cs typeface="Arial"/>
              </a:rPr>
              <a:t>· </a:t>
            </a:r>
            <a:r>
              <a:rPr sz="1275" b="1" dirty="0" err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объяснение</a:t>
            </a:r>
            <a:endParaRPr sz="1275" b="1" dirty="0">
              <a:solidFill>
                <a:srgbClr val="3978A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E3758D93-595B-45CE-A29D-77A371D065D1}"/>
              </a:ext>
            </a:extLst>
          </p:cNvPr>
          <p:cNvSpPr>
            <a:spLocks noGrp="1"/>
          </p:cNvSpPr>
          <p:nvPr/>
        </p:nvSpPr>
        <p:spPr>
          <a:xfrm>
            <a:off x="857250" y="4486275"/>
            <a:ext cx="30289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belongsTo и hasMany как две стороны отношения.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6765FCD8-E78D-4AAC-98DF-2C3E4E30FD58}"/>
              </a:ext>
            </a:extLst>
          </p:cNvPr>
          <p:cNvSpPr>
            <a:spLocks noGrp="1"/>
          </p:cNvSpPr>
          <p:nvPr/>
        </p:nvSpPr>
        <p:spPr>
          <a:xfrm>
            <a:off x="4286250" y="4019550"/>
            <a:ext cx="3371850" cy="1238250"/>
          </a:xfrm>
          <a:prstGeom prst="roundRect">
            <a:avLst>
              <a:gd name="adj" fmla="val 6154"/>
            </a:avLst>
          </a:prstGeom>
          <a:solidFill>
            <a:srgbClr val="EAF4F8"/>
          </a:solidFill>
          <a:ln w="0">
            <a:noFill/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071A2567-404B-4166-9A0E-53E8F0E19779}"/>
              </a:ext>
            </a:extLst>
          </p:cNvPr>
          <p:cNvSpPr>
            <a:spLocks noGrp="1"/>
          </p:cNvSpPr>
          <p:nvPr/>
        </p:nvSpPr>
        <p:spPr>
          <a:xfrm>
            <a:off x="4457700" y="4162425"/>
            <a:ext cx="30289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lang="ru-RU" sz="1275" b="1" dirty="0">
                <a:solidFill>
                  <a:srgbClr val="3978A8"/>
                </a:solidFill>
                <a:latin typeface="Arial"/>
                <a:ea typeface="Arial"/>
                <a:cs typeface="Arial"/>
              </a:rPr>
              <a:t>Этап </a:t>
            </a:r>
            <a:r>
              <a:rPr sz="1275" b="1" dirty="0">
                <a:solidFill>
                  <a:srgbClr val="3978A8"/>
                </a:solidFill>
                <a:latin typeface="Arial"/>
                <a:ea typeface="Arial"/>
                <a:cs typeface="Arial"/>
              </a:rPr>
              <a:t>· </a:t>
            </a:r>
            <a:r>
              <a:rPr sz="1275" b="1" dirty="0" err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код</a:t>
            </a:r>
            <a:r>
              <a:rPr sz="1275" b="1" dirty="0">
                <a:solidFill>
                  <a:srgbClr val="3978A8"/>
                </a:solidFill>
                <a:latin typeface="Arial"/>
                <a:ea typeface="Arial"/>
                <a:cs typeface="Arial"/>
              </a:rPr>
              <a:t> и </a:t>
            </a:r>
            <a:r>
              <a:rPr sz="1275" b="1" dirty="0" err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пример</a:t>
            </a:r>
            <a:endParaRPr sz="1275" b="1" dirty="0">
              <a:solidFill>
                <a:srgbClr val="3978A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2F3FE2EE-D1FF-4A77-BE4C-70F07C3E7A86}"/>
              </a:ext>
            </a:extLst>
          </p:cNvPr>
          <p:cNvSpPr>
            <a:spLocks noGrp="1"/>
          </p:cNvSpPr>
          <p:nvPr/>
        </p:nvSpPr>
        <p:spPr>
          <a:xfrm>
            <a:off x="4457700" y="4486275"/>
            <a:ext cx="30289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Маршрут, контроллер и операция создания оборудования.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55EBABB1-27ED-42E8-8CB9-C99E219ADE40}"/>
              </a:ext>
            </a:extLst>
          </p:cNvPr>
          <p:cNvSpPr>
            <a:spLocks noGrp="1"/>
          </p:cNvSpPr>
          <p:nvPr/>
        </p:nvSpPr>
        <p:spPr>
          <a:xfrm>
            <a:off x="7886700" y="4019550"/>
            <a:ext cx="3371850" cy="1238250"/>
          </a:xfrm>
          <a:prstGeom prst="roundRect">
            <a:avLst>
              <a:gd name="adj" fmla="val 6154"/>
            </a:avLst>
          </a:prstGeom>
          <a:solidFill>
            <a:srgbClr val="E9F5EF"/>
          </a:solidFill>
          <a:ln w="0">
            <a:noFill/>
            <a:prstDash val="solid"/>
          </a:ln>
        </p:spPr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F0C16BBA-7BB4-4279-9EBC-D6C17B4644FB}"/>
              </a:ext>
            </a:extLst>
          </p:cNvPr>
          <p:cNvSpPr>
            <a:spLocks noGrp="1"/>
          </p:cNvSpPr>
          <p:nvPr/>
        </p:nvSpPr>
        <p:spPr>
          <a:xfrm>
            <a:off x="8058150" y="4162425"/>
            <a:ext cx="30289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lang="ru-RU" sz="1275" b="1" dirty="0">
                <a:solidFill>
                  <a:srgbClr val="3978A8"/>
                </a:solidFill>
                <a:latin typeface="Arial"/>
                <a:ea typeface="Arial"/>
                <a:cs typeface="Arial"/>
              </a:rPr>
              <a:t>Этап </a:t>
            </a:r>
            <a:r>
              <a:rPr sz="1275" b="1" dirty="0">
                <a:solidFill>
                  <a:srgbClr val="3978A8"/>
                </a:solidFill>
                <a:latin typeface="Arial"/>
                <a:ea typeface="Arial"/>
                <a:cs typeface="Arial"/>
              </a:rPr>
              <a:t>· Bruno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898512F7-7178-48E8-AB5D-DBD2F729C520}"/>
              </a:ext>
            </a:extLst>
          </p:cNvPr>
          <p:cNvSpPr>
            <a:spLocks noGrp="1"/>
          </p:cNvSpPr>
          <p:nvPr/>
        </p:nvSpPr>
        <p:spPr>
          <a:xfrm>
            <a:off x="8058150" y="4486275"/>
            <a:ext cx="30289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Проверить CRUD и ожидаемые коды ответа.</a:t>
            </a: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4E82489D-4C85-47C0-9593-E82DC9BBB554}"/>
              </a:ext>
            </a:extLst>
          </p:cNvPr>
          <p:cNvSpPr>
            <a:spLocks noGrp="1"/>
          </p:cNvSpPr>
          <p:nvPr/>
        </p:nvSpPr>
        <p:spPr>
          <a:xfrm>
            <a:off x="685800" y="5514975"/>
            <a:ext cx="3371850" cy="1238250"/>
          </a:xfrm>
          <a:prstGeom prst="roundRect">
            <a:avLst>
              <a:gd name="adj" fmla="val 6154"/>
            </a:avLst>
          </a:prstGeom>
          <a:solidFill>
            <a:srgbClr val="EAF4F8"/>
          </a:solidFill>
          <a:ln w="0">
            <a:noFill/>
            <a:prstDash val="solid"/>
          </a:ln>
        </p:spPr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2377A7D2-24D2-4B53-8162-502BEFE360B2}"/>
              </a:ext>
            </a:extLst>
          </p:cNvPr>
          <p:cNvSpPr>
            <a:spLocks noGrp="1"/>
          </p:cNvSpPr>
          <p:nvPr/>
        </p:nvSpPr>
        <p:spPr>
          <a:xfrm>
            <a:off x="857250" y="5657850"/>
            <a:ext cx="30289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lang="ru-RU" sz="1275" b="1" dirty="0">
                <a:solidFill>
                  <a:srgbClr val="3978A8"/>
                </a:solidFill>
                <a:latin typeface="Arial"/>
                <a:ea typeface="Arial"/>
                <a:cs typeface="Arial"/>
              </a:rPr>
              <a:t>Этап </a:t>
            </a:r>
            <a:r>
              <a:rPr sz="1275" b="1" dirty="0">
                <a:solidFill>
                  <a:srgbClr val="3978A8"/>
                </a:solidFill>
                <a:latin typeface="Arial"/>
                <a:ea typeface="Arial"/>
                <a:cs typeface="Arial"/>
              </a:rPr>
              <a:t>· </a:t>
            </a:r>
            <a:r>
              <a:rPr sz="1275" b="1" dirty="0" err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итог</a:t>
            </a:r>
            <a:endParaRPr sz="1275" b="1" dirty="0">
              <a:solidFill>
                <a:srgbClr val="3978A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CF8DF3D3-045D-482E-8719-BC4A79875CC9}"/>
              </a:ext>
            </a:extLst>
          </p:cNvPr>
          <p:cNvSpPr>
            <a:spLocks noGrp="1"/>
          </p:cNvSpPr>
          <p:nvPr/>
        </p:nvSpPr>
        <p:spPr>
          <a:xfrm>
            <a:off x="857250" y="5981700"/>
            <a:ext cx="30289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Ключевые вопросы и тест приложения.</a:t>
            </a:r>
          </a:p>
        </p:txBody>
      </p:sp>
    </p:spTree>
    <p:extLst>
      <p:ext uri="{BB962C8B-B14F-4D97-AF65-F5344CB8AC3E}">
        <p14:creationId xmlns:p14="http://schemas.microsoft.com/office/powerpoint/2010/main" val="438653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01E0567D-FB8F-49E8-ACF5-5ACE3921E08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oundRect">
            <a:avLst>
              <a:gd name="adj" fmla="val 50000"/>
            </a:avLst>
          </a:prstGeom>
          <a:solidFill>
            <a:srgbClr val="3978A8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690F032-5E98-4DB2-8943-9C577075374D}"/>
              </a:ext>
            </a:extLst>
          </p:cNvPr>
          <p:cNvSpPr>
            <a:spLocks noGrp="1"/>
          </p:cNvSpPr>
          <p:nvPr/>
        </p:nvSpPr>
        <p:spPr>
          <a:xfrm>
            <a:off x="685800" y="276225"/>
            <a:ext cx="10820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ЗАНЯТИЕ 2 · МОДЕЛИ, СВЯЗИ И CRUD · МОТИВАЦИЯ · АКТУАЛИЗАЦИЯ · ЦЕЛЬ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01F6BBA-DD64-4567-A723-D1CE215B5707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От таблиц к объектам приложения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569D64B-5B34-4DB6-9449-5D84D389B1E2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714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7222"/>
          </a:bodyPr>
          <a:lstStyle>
            <a:defPPr algn="l"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МДК.09.01 · REST API на Laravel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C4F453D-AD52-49C4-ACAD-742B55649077}"/>
              </a:ext>
            </a:extLst>
          </p:cNvPr>
          <p:cNvSpPr>
            <a:spLocks noGrp="1"/>
          </p:cNvSpPr>
          <p:nvPr/>
        </p:nvSpPr>
        <p:spPr>
          <a:xfrm>
            <a:off x="10572750" y="649605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7222"/>
          </a:bodyPr>
          <a:lstStyle>
            <a:defPPr algn="r"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77C"/>
                </a:solidFill>
                <a:latin typeface="Arial"/>
                <a:ea typeface="Arial"/>
                <a:cs typeface="Arial"/>
              </a:rPr>
              <a:t>02 / 11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AACB2FD4-AAB2-4E67-8CBE-3BC2CB06F30B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5143500" cy="2571750"/>
          </a:xfrm>
          <a:prstGeom prst="roundRect">
            <a:avLst>
              <a:gd name="adj" fmla="val 2963"/>
            </a:avLst>
          </a:prstGeom>
          <a:solidFill>
            <a:srgbClr val="FFF8E9"/>
          </a:solidFill>
          <a:ln w="0">
            <a:noFill/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5CDBDE7-BB2E-4E39-A52B-39791B0140B9}"/>
              </a:ext>
            </a:extLst>
          </p:cNvPr>
          <p:cNvSpPr>
            <a:spLocks noGrp="1"/>
          </p:cNvSpPr>
          <p:nvPr/>
        </p:nvSpPr>
        <p:spPr>
          <a:xfrm>
            <a:off x="876300" y="16573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Ситуация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BDF9D6D-334F-4983-9057-EF1730AB5EB3}"/>
              </a:ext>
            </a:extLst>
          </p:cNvPr>
          <p:cNvSpPr>
            <a:spLocks noGrp="1"/>
          </p:cNvSpPr>
          <p:nvPr/>
        </p:nvSpPr>
        <p:spPr>
          <a:xfrm>
            <a:off x="876300" y="2000250"/>
            <a:ext cx="4762500" cy="1962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Заявка хранит equipment_id. Клиент получает JSON заявки и хочет увидеть само оборудование. Где Laravel должен описать связь между этими записями?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CCFF5E90-FF98-4B80-B3E2-0CFFBF82014D}"/>
              </a:ext>
            </a:extLst>
          </p:cNvPr>
          <p:cNvSpPr>
            <a:spLocks noGrp="1"/>
          </p:cNvSpPr>
          <p:nvPr/>
        </p:nvSpPr>
        <p:spPr>
          <a:xfrm>
            <a:off x="6076950" y="1504950"/>
            <a:ext cx="5429250" cy="1257300"/>
          </a:xfrm>
          <a:prstGeom prst="roundRect">
            <a:avLst>
              <a:gd name="adj" fmla="val 6061"/>
            </a:avLst>
          </a:prstGeom>
          <a:solidFill>
            <a:srgbClr val="EAF4F8"/>
          </a:solidFill>
          <a:ln w="0">
            <a:noFill/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B0FFAB4-4A95-4DD8-B30D-B92B5B8ACED8}"/>
              </a:ext>
            </a:extLst>
          </p:cNvPr>
          <p:cNvSpPr>
            <a:spLocks noGrp="1"/>
          </p:cNvSpPr>
          <p:nvPr/>
        </p:nvSpPr>
        <p:spPr>
          <a:xfrm>
            <a:off x="6267450" y="1657350"/>
            <a:ext cx="504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Вопрос группе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E6B6677-212F-41D6-89B2-4E820A372BD1}"/>
              </a:ext>
            </a:extLst>
          </p:cNvPr>
          <p:cNvSpPr>
            <a:spLocks noGrp="1"/>
          </p:cNvSpPr>
          <p:nvPr/>
        </p:nvSpPr>
        <p:spPr>
          <a:xfrm>
            <a:off x="6267450" y="2000250"/>
            <a:ext cx="5048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Кто отвечает за адрес запроса, кто за операцию, кто за отношения данных?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EA798352-240F-4CAA-93CE-0F5653AC2300}"/>
              </a:ext>
            </a:extLst>
          </p:cNvPr>
          <p:cNvSpPr>
            <a:spLocks noGrp="1"/>
          </p:cNvSpPr>
          <p:nvPr/>
        </p:nvSpPr>
        <p:spPr>
          <a:xfrm>
            <a:off x="6076950" y="2952750"/>
            <a:ext cx="5429250" cy="1123950"/>
          </a:xfrm>
          <a:prstGeom prst="roundRect">
            <a:avLst>
              <a:gd name="adj" fmla="val 6780"/>
            </a:avLst>
          </a:prstGeom>
          <a:solidFill>
            <a:srgbClr val="E9F5EF"/>
          </a:solidFill>
          <a:ln w="0">
            <a:noFill/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035DC8E-3D2F-4C3F-96A0-CA0DB5243FB9}"/>
              </a:ext>
            </a:extLst>
          </p:cNvPr>
          <p:cNvSpPr>
            <a:spLocks noGrp="1"/>
          </p:cNvSpPr>
          <p:nvPr/>
        </p:nvSpPr>
        <p:spPr>
          <a:xfrm>
            <a:off x="6267450" y="3105150"/>
            <a:ext cx="504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Цель этапа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2EBDE51-E800-4F86-98AB-E75FA9E39875}"/>
              </a:ext>
            </a:extLst>
          </p:cNvPr>
          <p:cNvSpPr>
            <a:spLocks noGrp="1"/>
          </p:cNvSpPr>
          <p:nvPr/>
        </p:nvSpPr>
        <p:spPr>
          <a:xfrm>
            <a:off x="6267450" y="3448050"/>
            <a:ext cx="504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Разобрать путь HTTP-запроса через маршрут, контроллер, модель и базу данных.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B72C2E70-FB9D-4198-A263-FFDB2F00D797}"/>
              </a:ext>
            </a:extLst>
          </p:cNvPr>
          <p:cNvSpPr>
            <a:spLocks noGrp="1"/>
          </p:cNvSpPr>
          <p:nvPr/>
        </p:nvSpPr>
        <p:spPr>
          <a:xfrm>
            <a:off x="685800" y="4333875"/>
            <a:ext cx="10820400" cy="1428750"/>
          </a:xfrm>
          <a:prstGeom prst="roundRect">
            <a:avLst>
              <a:gd name="adj" fmla="val 5333"/>
            </a:avLst>
          </a:prstGeom>
          <a:solidFill>
            <a:srgbClr val="F2F5F7"/>
          </a:solidFill>
          <a:ln w="0">
            <a:noFill/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B140AAF9-357D-4D3B-9F77-4C6AD3C2717A}"/>
              </a:ext>
            </a:extLst>
          </p:cNvPr>
          <p:cNvSpPr>
            <a:spLocks noGrp="1"/>
          </p:cNvSpPr>
          <p:nvPr/>
        </p:nvSpPr>
        <p:spPr>
          <a:xfrm>
            <a:off x="876300" y="4486275"/>
            <a:ext cx="10439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Ключевой переход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7B5B1A5-2B61-4AFF-880C-346300B91818}"/>
              </a:ext>
            </a:extLst>
          </p:cNvPr>
          <p:cNvSpPr>
            <a:spLocks noGrp="1"/>
          </p:cNvSpPr>
          <p:nvPr/>
        </p:nvSpPr>
        <p:spPr>
          <a:xfrm>
            <a:off x="876300" y="4829175"/>
            <a:ext cx="104394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От наблюдаемого поведения API перейти к объяснению устройства: какие данные нужны, какой компонент их обрабатывает и где проверить результат?</a:t>
            </a:r>
          </a:p>
        </p:txBody>
      </p:sp>
    </p:spTree>
    <p:extLst>
      <p:ext uri="{BB962C8B-B14F-4D97-AF65-F5344CB8AC3E}">
        <p14:creationId xmlns:p14="http://schemas.microsoft.com/office/powerpoint/2010/main" val="1224450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6F018C9-839A-4E57-83DA-AB703D6D86D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oundRect">
            <a:avLst>
              <a:gd name="adj" fmla="val 50000"/>
            </a:avLst>
          </a:prstGeom>
          <a:solidFill>
            <a:srgbClr val="3978A8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F5D95D6-2F8F-4AD8-8E9F-D600877D5B30}"/>
              </a:ext>
            </a:extLst>
          </p:cNvPr>
          <p:cNvSpPr>
            <a:spLocks noGrp="1"/>
          </p:cNvSpPr>
          <p:nvPr/>
        </p:nvSpPr>
        <p:spPr>
          <a:xfrm>
            <a:off x="685800" y="276225"/>
            <a:ext cx="10820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ЗАНЯТИЕ 2 · МОДЕЛИ, СВЯЗИ И CRUD · ОБЪЯСНЕНИЕ ПОНЯТИЙ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0FA3E43-6D9D-40F3-9A6A-55265FCCE864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4364B"/>
                </a:solidFill>
                <a:latin typeface="Arial"/>
                <a:ea typeface="Arial"/>
                <a:cs typeface="Arial"/>
              </a:rPr>
              <a:t>Термины: модель и отношения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8581254-8153-4875-8428-6F265F683B83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714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7222"/>
          </a:bodyPr>
          <a:lstStyle>
            <a:defPPr algn="l"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МДК.09.01 · REST API на Laravel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8A866AF-0658-483C-8753-B09C9652C48E}"/>
              </a:ext>
            </a:extLst>
          </p:cNvPr>
          <p:cNvSpPr>
            <a:spLocks noGrp="1"/>
          </p:cNvSpPr>
          <p:nvPr/>
        </p:nvSpPr>
        <p:spPr>
          <a:xfrm>
            <a:off x="10572750" y="649605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7222"/>
          </a:bodyPr>
          <a:lstStyle>
            <a:defPPr algn="r"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77C"/>
                </a:solidFill>
                <a:latin typeface="Arial"/>
                <a:ea typeface="Arial"/>
                <a:cs typeface="Arial"/>
              </a:rPr>
              <a:t>03 / 11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648742A3-F470-4B02-B942-247E0E9AECFF}"/>
              </a:ext>
            </a:extLst>
          </p:cNvPr>
          <p:cNvSpPr>
            <a:spLocks noGrp="1"/>
          </p:cNvSpPr>
          <p:nvPr/>
        </p:nvSpPr>
        <p:spPr>
          <a:xfrm>
            <a:off x="685800" y="1476375"/>
            <a:ext cx="5295900" cy="1828800"/>
          </a:xfrm>
          <a:prstGeom prst="roundRect">
            <a:avLst>
              <a:gd name="adj" fmla="val 4167"/>
            </a:avLst>
          </a:prstGeom>
          <a:solidFill>
            <a:srgbClr val="EAF4F8"/>
          </a:solidFill>
          <a:ln w="0">
            <a:noFill/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1C47666-7677-4669-9131-86429B83979E}"/>
              </a:ext>
            </a:extLst>
          </p:cNvPr>
          <p:cNvSpPr>
            <a:spLocks noGrp="1"/>
          </p:cNvSpPr>
          <p:nvPr/>
        </p:nvSpPr>
        <p:spPr>
          <a:xfrm>
            <a:off x="876300" y="1628775"/>
            <a:ext cx="4914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ORM и Eloquent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0C3DB26-3134-4F66-A89F-28E80C3FA9CA}"/>
              </a:ext>
            </a:extLst>
          </p:cNvPr>
          <p:cNvSpPr>
            <a:spLocks noGrp="1"/>
          </p:cNvSpPr>
          <p:nvPr/>
        </p:nvSpPr>
        <p:spPr>
          <a:xfrm>
            <a:off x="876300" y="1971675"/>
            <a:ext cx="49149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ORM </a:t>
            </a: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связывает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объекты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программы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с </a:t>
            </a: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таблицами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. Eloquent 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–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ORM Laravel; </a:t>
            </a: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модель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обычно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соответствует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одной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таблице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и </a:t>
            </a: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умеет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читать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и </a:t>
            </a: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изменять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её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строки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CAC0A2E2-1168-4145-A1FF-3B5095D88BD1}"/>
              </a:ext>
            </a:extLst>
          </p:cNvPr>
          <p:cNvSpPr>
            <a:spLocks noGrp="1"/>
          </p:cNvSpPr>
          <p:nvPr/>
        </p:nvSpPr>
        <p:spPr>
          <a:xfrm>
            <a:off x="6210300" y="1476375"/>
            <a:ext cx="5295900" cy="1828800"/>
          </a:xfrm>
          <a:prstGeom prst="roundRect">
            <a:avLst>
              <a:gd name="adj" fmla="val 4167"/>
            </a:avLst>
          </a:prstGeom>
          <a:solidFill>
            <a:srgbClr val="E9F5EF"/>
          </a:solidFill>
          <a:ln w="0">
            <a:noFill/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808D778-BABA-49D2-BC0B-9C5388708CB0}"/>
              </a:ext>
            </a:extLst>
          </p:cNvPr>
          <p:cNvSpPr>
            <a:spLocks noGrp="1"/>
          </p:cNvSpPr>
          <p:nvPr/>
        </p:nvSpPr>
        <p:spPr>
          <a:xfrm>
            <a:off x="6400800" y="1628775"/>
            <a:ext cx="4914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Модель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9A28307-F472-4D6D-AFB3-BF67E6B8D1DE}"/>
              </a:ext>
            </a:extLst>
          </p:cNvPr>
          <p:cNvSpPr>
            <a:spLocks noGrp="1"/>
          </p:cNvSpPr>
          <p:nvPr/>
        </p:nvSpPr>
        <p:spPr>
          <a:xfrm>
            <a:off x="6400800" y="1971675"/>
            <a:ext cx="49149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Класс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приложения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для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сущности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. Request </a:t>
            </a: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соответствует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таблице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requests, Equipment 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–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таблице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equipment. </a:t>
            </a: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Модели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находятся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в app/Models.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EFCBC0BC-2FC1-41C1-839C-9F7F0DC1DEE2}"/>
              </a:ext>
            </a:extLst>
          </p:cNvPr>
          <p:cNvSpPr>
            <a:spLocks noGrp="1"/>
          </p:cNvSpPr>
          <p:nvPr/>
        </p:nvSpPr>
        <p:spPr>
          <a:xfrm>
            <a:off x="685800" y="3571875"/>
            <a:ext cx="5295900" cy="1828800"/>
          </a:xfrm>
          <a:prstGeom prst="roundRect">
            <a:avLst>
              <a:gd name="adj" fmla="val 4167"/>
            </a:avLst>
          </a:prstGeom>
          <a:solidFill>
            <a:srgbClr val="FFF8E9"/>
          </a:solidFill>
          <a:ln w="0">
            <a:noFill/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EF6B3FE-87CD-4E9F-B935-3FEA421C6934}"/>
              </a:ext>
            </a:extLst>
          </p:cNvPr>
          <p:cNvSpPr>
            <a:spLocks noGrp="1"/>
          </p:cNvSpPr>
          <p:nvPr/>
        </p:nvSpPr>
        <p:spPr>
          <a:xfrm>
            <a:off x="876300" y="3724275"/>
            <a:ext cx="4914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$fillable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6FEE9B7-485A-45E1-83C4-D5A78FEE9E13}"/>
              </a:ext>
            </a:extLst>
          </p:cNvPr>
          <p:cNvSpPr>
            <a:spLocks noGrp="1"/>
          </p:cNvSpPr>
          <p:nvPr/>
        </p:nvSpPr>
        <p:spPr>
          <a:xfrm>
            <a:off x="876300" y="4067175"/>
            <a:ext cx="49149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Список атрибутов, которые разрешено массово заполнить данными запроса. Это граница входных полей, а не проверка права пользователя.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2A387508-3C71-4D20-896D-C9A2C3D9006E}"/>
              </a:ext>
            </a:extLst>
          </p:cNvPr>
          <p:cNvSpPr>
            <a:spLocks noGrp="1"/>
          </p:cNvSpPr>
          <p:nvPr/>
        </p:nvSpPr>
        <p:spPr>
          <a:xfrm>
            <a:off x="6210300" y="3571875"/>
            <a:ext cx="5295900" cy="1828800"/>
          </a:xfrm>
          <a:prstGeom prst="roundRect">
            <a:avLst>
              <a:gd name="adj" fmla="val 4167"/>
            </a:avLst>
          </a:prstGeom>
          <a:solidFill>
            <a:srgbClr val="EAF4F8"/>
          </a:solidFill>
          <a:ln w="0">
            <a:noFill/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87509267-BA1F-40C4-813E-10EC7E6975C7}"/>
              </a:ext>
            </a:extLst>
          </p:cNvPr>
          <p:cNvSpPr>
            <a:spLocks noGrp="1"/>
          </p:cNvSpPr>
          <p:nvPr/>
        </p:nvSpPr>
        <p:spPr>
          <a:xfrm>
            <a:off x="6400800" y="3724275"/>
            <a:ext cx="4914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belongsTo / hasMany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C41E58CC-3EC3-4D4A-95EE-66C272AA44AD}"/>
              </a:ext>
            </a:extLst>
          </p:cNvPr>
          <p:cNvSpPr>
            <a:spLocks noGrp="1"/>
          </p:cNvSpPr>
          <p:nvPr/>
        </p:nvSpPr>
        <p:spPr>
          <a:xfrm>
            <a:off x="6400800" y="4067175"/>
            <a:ext cx="49149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Заявка belongsTo оборудованию через equipment_id. Оборудование hasMany заявкам. Оба метода описывают одну связь с разных сторон.</a:t>
            </a:r>
          </a:p>
        </p:txBody>
      </p:sp>
    </p:spTree>
    <p:extLst>
      <p:ext uri="{BB962C8B-B14F-4D97-AF65-F5344CB8AC3E}">
        <p14:creationId xmlns:p14="http://schemas.microsoft.com/office/powerpoint/2010/main" val="645918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169B8D58-8EE3-4F4F-B083-885460112C5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oundRect">
            <a:avLst>
              <a:gd name="adj" fmla="val 50000"/>
            </a:avLst>
          </a:prstGeom>
          <a:solidFill>
            <a:srgbClr val="3978A8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BEACCD1-0B05-48BD-A5FD-50999F5FB3C0}"/>
              </a:ext>
            </a:extLst>
          </p:cNvPr>
          <p:cNvSpPr>
            <a:spLocks noGrp="1"/>
          </p:cNvSpPr>
          <p:nvPr/>
        </p:nvSpPr>
        <p:spPr>
          <a:xfrm>
            <a:off x="685800" y="276225"/>
            <a:ext cx="10820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ЗАНЯТИЕ 2 · МОДЕЛИ, СВЯЗИ И CRUD · ПОКАЗ КОДА · APP/MODELS/REQUEST.PHP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F818571-2C70-489A-9780-8B3D73DA8770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Модель заявки и belongsTo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D56479C-766B-4D24-BE15-D068B539941C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714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7222"/>
          </a:bodyPr>
          <a:lstStyle>
            <a:defPPr algn="l"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МДК.09.01 · REST API на Laravel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35B80C8-29DC-483A-86C9-EB845FC34249}"/>
              </a:ext>
            </a:extLst>
          </p:cNvPr>
          <p:cNvSpPr>
            <a:spLocks noGrp="1"/>
          </p:cNvSpPr>
          <p:nvPr/>
        </p:nvSpPr>
        <p:spPr>
          <a:xfrm>
            <a:off x="10572750" y="649605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7222"/>
          </a:bodyPr>
          <a:lstStyle>
            <a:defPPr algn="r"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77C"/>
                </a:solidFill>
                <a:latin typeface="Arial"/>
                <a:ea typeface="Arial"/>
                <a:cs typeface="Arial"/>
              </a:rPr>
              <a:t>04 / 11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915932D6-70AE-4A27-8E96-369873338588}"/>
              </a:ext>
            </a:extLst>
          </p:cNvPr>
          <p:cNvSpPr>
            <a:spLocks noGrp="1"/>
          </p:cNvSpPr>
          <p:nvPr/>
        </p:nvSpPr>
        <p:spPr>
          <a:xfrm>
            <a:off x="685800" y="1457325"/>
            <a:ext cx="6610350" cy="4429125"/>
          </a:xfrm>
          <a:prstGeom prst="roundRect">
            <a:avLst>
              <a:gd name="adj" fmla="val 1720"/>
            </a:avLst>
          </a:prstGeom>
          <a:solidFill>
            <a:srgbClr val="F2F5F7"/>
          </a:solidFill>
          <a:ln w="0">
            <a:noFill/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1EFD3D8-4CEC-403A-A0E4-6453CFC14791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609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ФРАГМЕНТ КОДА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118FE99-58B3-411F-9937-A3BC170D2669}"/>
              </a:ext>
            </a:extLst>
          </p:cNvPr>
          <p:cNvSpPr>
            <a:spLocks noGrp="1"/>
          </p:cNvSpPr>
          <p:nvPr/>
        </p:nvSpPr>
        <p:spPr>
          <a:xfrm>
            <a:off x="895350" y="1924050"/>
            <a:ext cx="6191250" cy="3752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24364B"/>
                </a:solidFill>
                <a:latin typeface="Consolas"/>
                <a:ea typeface="Consolas"/>
                <a:cs typeface="Consolas"/>
              </a:rPr>
              <a:t>class Request extends Model</a:t>
            </a:r>
          </a:p>
          <a:p>
            <a: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24364B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24364B"/>
                </a:solidFill>
                <a:latin typeface="Consolas"/>
                <a:ea typeface="Consolas"/>
                <a:cs typeface="Consolas"/>
              </a:rPr>
              <a:t>    protected $fillable = [</a:t>
            </a:r>
          </a:p>
          <a:p>
            <a: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24364B"/>
                </a:solidFill>
                <a:latin typeface="Consolas"/>
                <a:ea typeface="Consolas"/>
                <a:cs typeface="Consolas"/>
              </a:rPr>
              <a:t>        'title', 'description',</a:t>
            </a:r>
          </a:p>
          <a:p>
            <a: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24364B"/>
                </a:solidFill>
                <a:latin typeface="Consolas"/>
                <a:ea typeface="Consolas"/>
                <a:cs typeface="Consolas"/>
              </a:rPr>
              <a:t>        'status', 'equipment_id',</a:t>
            </a:r>
          </a:p>
          <a:p>
            <a: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24364B"/>
                </a:solidFill>
                <a:latin typeface="Consolas"/>
                <a:ea typeface="Consolas"/>
                <a:cs typeface="Consolas"/>
              </a:rPr>
              <a:t>    ];</a:t>
            </a:r>
          </a:p>
          <a:p>
            <a:endParaRPr sz="1275" b="0">
              <a:solidFill>
                <a:srgbClr val="24364B"/>
              </a:solidFill>
              <a:latin typeface="Consolas"/>
              <a:ea typeface="Consolas"/>
              <a:cs typeface="Consolas"/>
            </a:endParaRPr>
          </a:p>
          <a:p>
            <a: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24364B"/>
                </a:solidFill>
                <a:latin typeface="Consolas"/>
                <a:ea typeface="Consolas"/>
                <a:cs typeface="Consolas"/>
              </a:rPr>
              <a:t>    public function equipment()</a:t>
            </a:r>
          </a:p>
          <a:p>
            <a: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24364B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24364B"/>
                </a:solidFill>
                <a:latin typeface="Consolas"/>
                <a:ea typeface="Consolas"/>
                <a:cs typeface="Consolas"/>
              </a:rPr>
              <a:t>        return $this-&gt;belongsTo(Equipment::class);</a:t>
            </a:r>
          </a:p>
          <a:p>
            <a: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24364B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24364B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87E2A134-68F3-422C-8639-D8CDDB4043AA}"/>
              </a:ext>
            </a:extLst>
          </p:cNvPr>
          <p:cNvSpPr>
            <a:spLocks noGrp="1"/>
          </p:cNvSpPr>
          <p:nvPr/>
        </p:nvSpPr>
        <p:spPr>
          <a:xfrm>
            <a:off x="7562850" y="1457325"/>
            <a:ext cx="3943350" cy="1314450"/>
          </a:xfrm>
          <a:prstGeom prst="roundRect">
            <a:avLst>
              <a:gd name="adj" fmla="val 5797"/>
            </a:avLst>
          </a:prstGeom>
          <a:solidFill>
            <a:srgbClr val="EAF4F8"/>
          </a:solidFill>
          <a:ln w="0">
            <a:noFill/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19BBD2B9-9D7D-44C7-A84D-A77F51290AED}"/>
              </a:ext>
            </a:extLst>
          </p:cNvPr>
          <p:cNvSpPr>
            <a:spLocks noGrp="1"/>
          </p:cNvSpPr>
          <p:nvPr/>
        </p:nvSpPr>
        <p:spPr>
          <a:xfrm>
            <a:off x="7753350" y="1609725"/>
            <a:ext cx="3562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Зачем $fillable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DBF779F-9826-47AF-8EA7-7E69414F237F}"/>
              </a:ext>
            </a:extLst>
          </p:cNvPr>
          <p:cNvSpPr>
            <a:spLocks noGrp="1"/>
          </p:cNvSpPr>
          <p:nvPr/>
        </p:nvSpPr>
        <p:spPr>
          <a:xfrm>
            <a:off x="7753350" y="1952625"/>
            <a:ext cx="35623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Позволяет создавать или обновлять только перечисленные поля. Для связи нужно разрешить equipment_id.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86398953-BE85-4ABA-B5B1-DDC5CAF8F492}"/>
              </a:ext>
            </a:extLst>
          </p:cNvPr>
          <p:cNvSpPr>
            <a:spLocks noGrp="1"/>
          </p:cNvSpPr>
          <p:nvPr/>
        </p:nvSpPr>
        <p:spPr>
          <a:xfrm>
            <a:off x="7562850" y="2952750"/>
            <a:ext cx="3943350" cy="1314450"/>
          </a:xfrm>
          <a:prstGeom prst="roundRect">
            <a:avLst>
              <a:gd name="adj" fmla="val 5797"/>
            </a:avLst>
          </a:prstGeom>
          <a:solidFill>
            <a:srgbClr val="E9F5EF"/>
          </a:solidFill>
          <a:ln w="0">
            <a:noFill/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246F19B-3C76-4F50-B356-29CBC768B05F}"/>
              </a:ext>
            </a:extLst>
          </p:cNvPr>
          <p:cNvSpPr>
            <a:spLocks noGrp="1"/>
          </p:cNvSpPr>
          <p:nvPr/>
        </p:nvSpPr>
        <p:spPr>
          <a:xfrm>
            <a:off x="7753350" y="3105150"/>
            <a:ext cx="3562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Что делает belongsTo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56BBCC94-1F4A-4A7C-80D8-0D62D1D6DC97}"/>
              </a:ext>
            </a:extLst>
          </p:cNvPr>
          <p:cNvSpPr>
            <a:spLocks noGrp="1"/>
          </p:cNvSpPr>
          <p:nvPr/>
        </p:nvSpPr>
        <p:spPr>
          <a:xfrm>
            <a:off x="7753350" y="3448050"/>
            <a:ext cx="35623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По equipment_id находит единственную связанную модель Equipment.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FD3EA9BF-C183-47EE-96A5-755D170CC72A}"/>
              </a:ext>
            </a:extLst>
          </p:cNvPr>
          <p:cNvSpPr>
            <a:spLocks noGrp="1"/>
          </p:cNvSpPr>
          <p:nvPr/>
        </p:nvSpPr>
        <p:spPr>
          <a:xfrm>
            <a:off x="7562850" y="4448175"/>
            <a:ext cx="3943350" cy="1314450"/>
          </a:xfrm>
          <a:prstGeom prst="roundRect">
            <a:avLst>
              <a:gd name="adj" fmla="val 5797"/>
            </a:avLst>
          </a:prstGeom>
          <a:solidFill>
            <a:srgbClr val="EAF4F8"/>
          </a:solidFill>
          <a:ln w="0">
            <a:noFill/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DC214E0-847C-4059-A2D5-02313208EED2}"/>
              </a:ext>
            </a:extLst>
          </p:cNvPr>
          <p:cNvSpPr>
            <a:spLocks noGrp="1"/>
          </p:cNvSpPr>
          <p:nvPr/>
        </p:nvSpPr>
        <p:spPr>
          <a:xfrm>
            <a:off x="7753350" y="4600575"/>
            <a:ext cx="3562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Где модель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9E53BC0F-6163-47DF-92EE-D753C1ADC3CA}"/>
              </a:ext>
            </a:extLst>
          </p:cNvPr>
          <p:cNvSpPr>
            <a:spLocks noGrp="1"/>
          </p:cNvSpPr>
          <p:nvPr/>
        </p:nvSpPr>
        <p:spPr>
          <a:xfrm>
            <a:off x="7753350" y="4943475"/>
            <a:ext cx="35623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Класс Request хранится в app/Models/Request.php.</a:t>
            </a:r>
          </a:p>
        </p:txBody>
      </p:sp>
    </p:spTree>
    <p:extLst>
      <p:ext uri="{BB962C8B-B14F-4D97-AF65-F5344CB8AC3E}">
        <p14:creationId xmlns:p14="http://schemas.microsoft.com/office/powerpoint/2010/main" val="1573882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4A4116C7-FD2B-43DD-872D-A5E77AA2E34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oundRect">
            <a:avLst>
              <a:gd name="adj" fmla="val 50000"/>
            </a:avLst>
          </a:prstGeom>
          <a:solidFill>
            <a:srgbClr val="3978A8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EA52573-2837-4B55-8ABE-0E07C7D48C97}"/>
              </a:ext>
            </a:extLst>
          </p:cNvPr>
          <p:cNvSpPr>
            <a:spLocks noGrp="1"/>
          </p:cNvSpPr>
          <p:nvPr/>
        </p:nvSpPr>
        <p:spPr>
          <a:xfrm>
            <a:off x="685800" y="276225"/>
            <a:ext cx="10820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ЗАНЯТИЕ 2 · МОДЕЛИ, СВЯЗИ И CRUD · ПОКАЗ КОДА · APP/MODELS/EQUIPMENT.PHP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7396AE1-AF45-4246-B432-54BEA5AE844C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Обратная сторона связи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9C62F86-2F83-4518-94A9-37548896306B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714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7222"/>
          </a:bodyPr>
          <a:lstStyle>
            <a:defPPr algn="l"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МДК.09.01 · REST API на Laravel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1522B30-DD65-4B01-96D8-F958131F1580}"/>
              </a:ext>
            </a:extLst>
          </p:cNvPr>
          <p:cNvSpPr>
            <a:spLocks noGrp="1"/>
          </p:cNvSpPr>
          <p:nvPr/>
        </p:nvSpPr>
        <p:spPr>
          <a:xfrm>
            <a:off x="10572750" y="649605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7222"/>
          </a:bodyPr>
          <a:lstStyle>
            <a:defPPr algn="r"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77C"/>
                </a:solidFill>
                <a:latin typeface="Arial"/>
                <a:ea typeface="Arial"/>
                <a:cs typeface="Arial"/>
              </a:rPr>
              <a:t>05 / 11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77237F18-5EF5-428A-9709-C0A8A5426442}"/>
              </a:ext>
            </a:extLst>
          </p:cNvPr>
          <p:cNvSpPr>
            <a:spLocks noGrp="1"/>
          </p:cNvSpPr>
          <p:nvPr/>
        </p:nvSpPr>
        <p:spPr>
          <a:xfrm>
            <a:off x="685800" y="1457325"/>
            <a:ext cx="6610350" cy="4429125"/>
          </a:xfrm>
          <a:prstGeom prst="roundRect">
            <a:avLst>
              <a:gd name="adj" fmla="val 1720"/>
            </a:avLst>
          </a:prstGeom>
          <a:solidFill>
            <a:srgbClr val="F2F5F7"/>
          </a:solidFill>
          <a:ln w="0">
            <a:noFill/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280E8D2-FCA1-42A0-B032-0BE915C2FF62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609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ФРАГМЕНТ КОДА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F97559B-A9AE-40FA-9E9D-C711E3150D81}"/>
              </a:ext>
            </a:extLst>
          </p:cNvPr>
          <p:cNvSpPr>
            <a:spLocks noGrp="1"/>
          </p:cNvSpPr>
          <p:nvPr/>
        </p:nvSpPr>
        <p:spPr>
          <a:xfrm>
            <a:off x="895350" y="1924050"/>
            <a:ext cx="6191250" cy="3752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24364B"/>
                </a:solidFill>
                <a:latin typeface="Consolas"/>
                <a:ea typeface="Consolas"/>
                <a:cs typeface="Consolas"/>
              </a:rPr>
              <a:t>class Equipment extends Model</a:t>
            </a:r>
          </a:p>
          <a:p>
            <a: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24364B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24364B"/>
                </a:solidFill>
                <a:latin typeface="Consolas"/>
                <a:ea typeface="Consolas"/>
                <a:cs typeface="Consolas"/>
              </a:rPr>
              <a:t>    protected $fillable = ['name', 'location'];</a:t>
            </a:r>
          </a:p>
          <a:p>
            <a:endParaRPr sz="1275" b="0">
              <a:solidFill>
                <a:srgbClr val="24364B"/>
              </a:solidFill>
              <a:latin typeface="Consolas"/>
              <a:ea typeface="Consolas"/>
              <a:cs typeface="Consolas"/>
            </a:endParaRPr>
          </a:p>
          <a:p>
            <a: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24364B"/>
                </a:solidFill>
                <a:latin typeface="Consolas"/>
                <a:ea typeface="Consolas"/>
                <a:cs typeface="Consolas"/>
              </a:rPr>
              <a:t>    public function requests()</a:t>
            </a:r>
          </a:p>
          <a:p>
            <a: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24364B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24364B"/>
                </a:solidFill>
                <a:latin typeface="Consolas"/>
                <a:ea typeface="Consolas"/>
                <a:cs typeface="Consolas"/>
              </a:rPr>
              <a:t>        return $this-&gt;hasMany(Request::class);</a:t>
            </a:r>
          </a:p>
          <a:p>
            <a: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24364B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24364B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38884CFE-109E-48D3-A685-676F2A0906C5}"/>
              </a:ext>
            </a:extLst>
          </p:cNvPr>
          <p:cNvSpPr>
            <a:spLocks noGrp="1"/>
          </p:cNvSpPr>
          <p:nvPr/>
        </p:nvSpPr>
        <p:spPr>
          <a:xfrm>
            <a:off x="7562850" y="1457325"/>
            <a:ext cx="3943350" cy="1314450"/>
          </a:xfrm>
          <a:prstGeom prst="roundRect">
            <a:avLst>
              <a:gd name="adj" fmla="val 5797"/>
            </a:avLst>
          </a:prstGeom>
          <a:solidFill>
            <a:srgbClr val="EAF4F8"/>
          </a:solidFill>
          <a:ln w="0">
            <a:noFill/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7C26C55-B2ED-4291-B9D5-7FE647BB8843}"/>
              </a:ext>
            </a:extLst>
          </p:cNvPr>
          <p:cNvSpPr>
            <a:spLocks noGrp="1"/>
          </p:cNvSpPr>
          <p:nvPr/>
        </p:nvSpPr>
        <p:spPr>
          <a:xfrm>
            <a:off x="7753350" y="1609725"/>
            <a:ext cx="3562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hasMany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0C75230-E4A9-4674-9E77-202195172DC1}"/>
              </a:ext>
            </a:extLst>
          </p:cNvPr>
          <p:cNvSpPr>
            <a:spLocks noGrp="1"/>
          </p:cNvSpPr>
          <p:nvPr/>
        </p:nvSpPr>
        <p:spPr>
          <a:xfrm>
            <a:off x="7753350" y="1952625"/>
            <a:ext cx="35623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Одна запись Equipment может быть связана со многими заявками.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E79EDBCA-1F1E-4238-8755-F78D40E5BBD9}"/>
              </a:ext>
            </a:extLst>
          </p:cNvPr>
          <p:cNvSpPr>
            <a:spLocks noGrp="1"/>
          </p:cNvSpPr>
          <p:nvPr/>
        </p:nvSpPr>
        <p:spPr>
          <a:xfrm>
            <a:off x="7562850" y="2952750"/>
            <a:ext cx="3943350" cy="1314450"/>
          </a:xfrm>
          <a:prstGeom prst="roundRect">
            <a:avLst>
              <a:gd name="adj" fmla="val 5797"/>
            </a:avLst>
          </a:prstGeom>
          <a:solidFill>
            <a:srgbClr val="E9F5EF"/>
          </a:solidFill>
          <a:ln w="0">
            <a:noFill/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305C933-AD55-4F9C-A697-D1E5DD8BFCEA}"/>
              </a:ext>
            </a:extLst>
          </p:cNvPr>
          <p:cNvSpPr>
            <a:spLocks noGrp="1"/>
          </p:cNvSpPr>
          <p:nvPr/>
        </p:nvSpPr>
        <p:spPr>
          <a:xfrm>
            <a:off x="7753350" y="3105150"/>
            <a:ext cx="3562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Где внешний ключ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F586FE0D-E3B4-4C23-85C2-D86998E136E3}"/>
              </a:ext>
            </a:extLst>
          </p:cNvPr>
          <p:cNvSpPr>
            <a:spLocks noGrp="1"/>
          </p:cNvSpPr>
          <p:nvPr/>
        </p:nvSpPr>
        <p:spPr>
          <a:xfrm>
            <a:off x="7753350" y="3448050"/>
            <a:ext cx="35623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Поле equipment_id находится в зависимой таблице requests.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47592B3B-82A6-4728-8F97-626AEEAFA82C}"/>
              </a:ext>
            </a:extLst>
          </p:cNvPr>
          <p:cNvSpPr>
            <a:spLocks noGrp="1"/>
          </p:cNvSpPr>
          <p:nvPr/>
        </p:nvSpPr>
        <p:spPr>
          <a:xfrm>
            <a:off x="7562850" y="4448175"/>
            <a:ext cx="3943350" cy="1314450"/>
          </a:xfrm>
          <a:prstGeom prst="roundRect">
            <a:avLst>
              <a:gd name="adj" fmla="val 5797"/>
            </a:avLst>
          </a:prstGeom>
          <a:solidFill>
            <a:srgbClr val="EAF4F8"/>
          </a:solidFill>
          <a:ln w="0">
            <a:noFill/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8F466EFC-DEBC-487C-AFBB-EA715A3D307E}"/>
              </a:ext>
            </a:extLst>
          </p:cNvPr>
          <p:cNvSpPr>
            <a:spLocks noGrp="1"/>
          </p:cNvSpPr>
          <p:nvPr/>
        </p:nvSpPr>
        <p:spPr>
          <a:xfrm>
            <a:off x="7753350" y="4600575"/>
            <a:ext cx="3562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Результат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62A0BB03-6B8E-45C4-8828-DED08E44DC14}"/>
              </a:ext>
            </a:extLst>
          </p:cNvPr>
          <p:cNvSpPr>
            <a:spLocks noGrp="1"/>
          </p:cNvSpPr>
          <p:nvPr/>
        </p:nvSpPr>
        <p:spPr>
          <a:xfrm>
            <a:off x="7753350" y="4943475"/>
            <a:ext cx="35623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Через $equipment-&gt;requests можно получить коллекцию заявок этого оборудования.</a:t>
            </a:r>
          </a:p>
        </p:txBody>
      </p:sp>
    </p:spTree>
    <p:extLst>
      <p:ext uri="{BB962C8B-B14F-4D97-AF65-F5344CB8AC3E}">
        <p14:creationId xmlns:p14="http://schemas.microsoft.com/office/powerpoint/2010/main" val="1930427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B4BA1DF4-A9FA-4B3D-BE6A-B90AF4EF11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oundRect">
            <a:avLst>
              <a:gd name="adj" fmla="val 50000"/>
            </a:avLst>
          </a:prstGeom>
          <a:solidFill>
            <a:srgbClr val="3978A8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07AD324-F50D-4961-B745-6FBF2FA9D96C}"/>
              </a:ext>
            </a:extLst>
          </p:cNvPr>
          <p:cNvSpPr>
            <a:spLocks noGrp="1"/>
          </p:cNvSpPr>
          <p:nvPr/>
        </p:nvSpPr>
        <p:spPr>
          <a:xfrm>
            <a:off x="685800" y="276225"/>
            <a:ext cx="10820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ЗАНЯТИЕ 2 · МОДЕЛИ, СВЯЗИ И CRUD · КОД · ROUTES/API.PHP И EQUIPMENTCONTROLLER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7EC1742-5B28-41C1-A238-0D79F15A96C0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Маршрут передаёт работу контроллеру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F017DE6-CE30-4D50-BEE9-17BAF358ADED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714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7222"/>
          </a:bodyPr>
          <a:lstStyle>
            <a:defPPr algn="l"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МДК.09.01 · REST API на Laravel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F0C8E38-A9A6-41C8-B2C9-EAFF883C5D99}"/>
              </a:ext>
            </a:extLst>
          </p:cNvPr>
          <p:cNvSpPr>
            <a:spLocks noGrp="1"/>
          </p:cNvSpPr>
          <p:nvPr/>
        </p:nvSpPr>
        <p:spPr>
          <a:xfrm>
            <a:off x="10572750" y="649605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7222"/>
          </a:bodyPr>
          <a:lstStyle>
            <a:defPPr algn="r"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77C"/>
                </a:solidFill>
                <a:latin typeface="Arial"/>
                <a:ea typeface="Arial"/>
                <a:cs typeface="Arial"/>
              </a:rPr>
              <a:t>06 / 11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3A765058-772A-49E9-B752-987AA1520D24}"/>
              </a:ext>
            </a:extLst>
          </p:cNvPr>
          <p:cNvSpPr>
            <a:spLocks noGrp="1"/>
          </p:cNvSpPr>
          <p:nvPr/>
        </p:nvSpPr>
        <p:spPr>
          <a:xfrm>
            <a:off x="685800" y="1457325"/>
            <a:ext cx="6610350" cy="4429125"/>
          </a:xfrm>
          <a:prstGeom prst="roundRect">
            <a:avLst>
              <a:gd name="adj" fmla="val 1720"/>
            </a:avLst>
          </a:prstGeom>
          <a:solidFill>
            <a:srgbClr val="F2F5F7"/>
          </a:solidFill>
          <a:ln w="0">
            <a:noFill/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2059403-C3E9-4BDD-87E3-C1D1907CCF43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609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ФРАГМЕНТ КОДА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A67E49E-D1C5-4E72-9411-4B45875F4894}"/>
              </a:ext>
            </a:extLst>
          </p:cNvPr>
          <p:cNvSpPr>
            <a:spLocks noGrp="1"/>
          </p:cNvSpPr>
          <p:nvPr/>
        </p:nvSpPr>
        <p:spPr>
          <a:xfrm>
            <a:off x="895350" y="1924050"/>
            <a:ext cx="6191250" cy="3752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24364B"/>
                </a:solidFill>
                <a:latin typeface="Consolas"/>
                <a:ea typeface="Consolas"/>
                <a:cs typeface="Consolas"/>
              </a:rPr>
              <a:t>Route::get('/equipment',</a:t>
            </a:r>
          </a:p>
          <a:p>
            <a: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24364B"/>
                </a:solidFill>
                <a:latin typeface="Consolas"/>
                <a:ea typeface="Consolas"/>
                <a:cs typeface="Consolas"/>
              </a:rPr>
              <a:t>    [EquipmentController::class, 'index']);</a:t>
            </a:r>
          </a:p>
          <a:p>
            <a:endParaRPr sz="1275" b="0">
              <a:solidFill>
                <a:srgbClr val="24364B"/>
              </a:solidFill>
              <a:latin typeface="Consolas"/>
              <a:ea typeface="Consolas"/>
              <a:cs typeface="Consolas"/>
            </a:endParaRPr>
          </a:p>
          <a:p>
            <a: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24364B"/>
                </a:solidFill>
                <a:latin typeface="Consolas"/>
                <a:ea typeface="Consolas"/>
                <a:cs typeface="Consolas"/>
              </a:rPr>
              <a:t>Route::post('/equipment',</a:t>
            </a:r>
          </a:p>
          <a:p>
            <a: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24364B"/>
                </a:solidFill>
                <a:latin typeface="Consolas"/>
                <a:ea typeface="Consolas"/>
                <a:cs typeface="Consolas"/>
              </a:rPr>
              <a:t>    [EquipmentController::class, 'store']);</a:t>
            </a:r>
          </a:p>
          <a:p>
            <a:endParaRPr sz="1275" b="0">
              <a:solidFill>
                <a:srgbClr val="24364B"/>
              </a:solidFill>
              <a:latin typeface="Consolas"/>
              <a:ea typeface="Consolas"/>
              <a:cs typeface="Consolas"/>
            </a:endParaRPr>
          </a:p>
          <a:p>
            <a: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24364B"/>
                </a:solidFill>
                <a:latin typeface="Consolas"/>
                <a:ea typeface="Consolas"/>
                <a:cs typeface="Consolas"/>
              </a:rPr>
              <a:t>$data = $request-&gt;validate([</a:t>
            </a:r>
          </a:p>
          <a:p>
            <a: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24364B"/>
                </a:solidFill>
                <a:latin typeface="Consolas"/>
                <a:ea typeface="Consolas"/>
                <a:cs typeface="Consolas"/>
              </a:rPr>
              <a:t>    'name' =&gt; 'required|string|max:255',</a:t>
            </a:r>
          </a:p>
          <a:p>
            <a: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24364B"/>
                </a:solidFill>
                <a:latin typeface="Consolas"/>
                <a:ea typeface="Consolas"/>
                <a:cs typeface="Consolas"/>
              </a:rPr>
              <a:t>    'location' =&gt; 'required|string|max:255',</a:t>
            </a:r>
          </a:p>
          <a:p>
            <a: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24364B"/>
                </a:solidFill>
                <a:latin typeface="Consolas"/>
                <a:ea typeface="Consolas"/>
                <a:cs typeface="Consolas"/>
              </a:rPr>
              <a:t>]);</a:t>
            </a:r>
          </a:p>
          <a:p>
            <a:endParaRPr sz="1275" b="0">
              <a:solidFill>
                <a:srgbClr val="24364B"/>
              </a:solidFill>
              <a:latin typeface="Consolas"/>
              <a:ea typeface="Consolas"/>
              <a:cs typeface="Consolas"/>
            </a:endParaRPr>
          </a:p>
          <a:p>
            <a: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24364B"/>
                </a:solidFill>
                <a:latin typeface="Consolas"/>
                <a:ea typeface="Consolas"/>
                <a:cs typeface="Consolas"/>
              </a:rPr>
              <a:t>return response()-&gt;json(</a:t>
            </a:r>
          </a:p>
          <a:p>
            <a: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24364B"/>
                </a:solidFill>
                <a:latin typeface="Consolas"/>
                <a:ea typeface="Consolas"/>
                <a:cs typeface="Consolas"/>
              </a:rPr>
              <a:t>    Equipment::query()-&gt;create($data), 201</a:t>
            </a:r>
          </a:p>
          <a:p>
            <a: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24364B"/>
                </a:solidFill>
                <a:latin typeface="Consolas"/>
                <a:ea typeface="Consolas"/>
                <a:cs typeface="Consolas"/>
              </a:rPr>
              <a:t>);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1952A68D-8F35-4EB7-9011-41D1DB424C31}"/>
              </a:ext>
            </a:extLst>
          </p:cNvPr>
          <p:cNvSpPr>
            <a:spLocks noGrp="1"/>
          </p:cNvSpPr>
          <p:nvPr/>
        </p:nvSpPr>
        <p:spPr>
          <a:xfrm>
            <a:off x="7562850" y="1457325"/>
            <a:ext cx="3943350" cy="1314450"/>
          </a:xfrm>
          <a:prstGeom prst="roundRect">
            <a:avLst>
              <a:gd name="adj" fmla="val 5797"/>
            </a:avLst>
          </a:prstGeom>
          <a:solidFill>
            <a:srgbClr val="EAF4F8"/>
          </a:solidFill>
          <a:ln w="0">
            <a:noFill/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B773C25-C7EF-46CE-B4A6-B02A2E05218D}"/>
              </a:ext>
            </a:extLst>
          </p:cNvPr>
          <p:cNvSpPr>
            <a:spLocks noGrp="1"/>
          </p:cNvSpPr>
          <p:nvPr/>
        </p:nvSpPr>
        <p:spPr>
          <a:xfrm>
            <a:off x="7753350" y="1609725"/>
            <a:ext cx="3562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Маршрут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A78C5E7-5F08-4492-8533-B9D01B6474C7}"/>
              </a:ext>
            </a:extLst>
          </p:cNvPr>
          <p:cNvSpPr>
            <a:spLocks noGrp="1"/>
          </p:cNvSpPr>
          <p:nvPr/>
        </p:nvSpPr>
        <p:spPr>
          <a:xfrm>
            <a:off x="7753350" y="1952625"/>
            <a:ext cx="35623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Сопоставляет метод и адрес с методом контроллера.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D89AC5C3-2D4E-4200-91AE-EB2D8F0325D3}"/>
              </a:ext>
            </a:extLst>
          </p:cNvPr>
          <p:cNvSpPr>
            <a:spLocks noGrp="1"/>
          </p:cNvSpPr>
          <p:nvPr/>
        </p:nvSpPr>
        <p:spPr>
          <a:xfrm>
            <a:off x="7562850" y="2952750"/>
            <a:ext cx="3943350" cy="1314450"/>
          </a:xfrm>
          <a:prstGeom prst="roundRect">
            <a:avLst>
              <a:gd name="adj" fmla="val 5797"/>
            </a:avLst>
          </a:prstGeom>
          <a:solidFill>
            <a:srgbClr val="E9F5EF"/>
          </a:solidFill>
          <a:ln w="0">
            <a:noFill/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07001C80-8F4F-4F53-A3DA-1B9290A0E567}"/>
              </a:ext>
            </a:extLst>
          </p:cNvPr>
          <p:cNvSpPr>
            <a:spLocks noGrp="1"/>
          </p:cNvSpPr>
          <p:nvPr/>
        </p:nvSpPr>
        <p:spPr>
          <a:xfrm>
            <a:off x="7753350" y="3105150"/>
            <a:ext cx="3562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Контроллер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C4981BD6-1EAD-4656-95E6-BD8471C26B72}"/>
              </a:ext>
            </a:extLst>
          </p:cNvPr>
          <p:cNvSpPr>
            <a:spLocks noGrp="1"/>
          </p:cNvSpPr>
          <p:nvPr/>
        </p:nvSpPr>
        <p:spPr>
          <a:xfrm>
            <a:off x="7753350" y="3448050"/>
            <a:ext cx="35623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Проверяет входные значения, обращается к модели и формирует ответ.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5398C78A-D997-4977-ABAE-0E19BFF36800}"/>
              </a:ext>
            </a:extLst>
          </p:cNvPr>
          <p:cNvSpPr>
            <a:spLocks noGrp="1"/>
          </p:cNvSpPr>
          <p:nvPr/>
        </p:nvSpPr>
        <p:spPr>
          <a:xfrm>
            <a:off x="7562850" y="4448175"/>
            <a:ext cx="3943350" cy="1314450"/>
          </a:xfrm>
          <a:prstGeom prst="roundRect">
            <a:avLst>
              <a:gd name="adj" fmla="val 5797"/>
            </a:avLst>
          </a:prstGeom>
          <a:solidFill>
            <a:srgbClr val="EAF4F8"/>
          </a:solidFill>
          <a:ln w="0">
            <a:noFill/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9FCFE1E4-C0AC-46FB-A436-D93F428D450D}"/>
              </a:ext>
            </a:extLst>
          </p:cNvPr>
          <p:cNvSpPr>
            <a:spLocks noGrp="1"/>
          </p:cNvSpPr>
          <p:nvPr/>
        </p:nvSpPr>
        <p:spPr>
          <a:xfrm>
            <a:off x="7753350" y="4600575"/>
            <a:ext cx="3562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Код 201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A1416F6A-7EC2-4248-B553-7927D87EAD19}"/>
              </a:ext>
            </a:extLst>
          </p:cNvPr>
          <p:cNvSpPr>
            <a:spLocks noGrp="1"/>
          </p:cNvSpPr>
          <p:nvPr/>
        </p:nvSpPr>
        <p:spPr>
          <a:xfrm>
            <a:off x="7753350" y="4943475"/>
            <a:ext cx="35623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Сервер подтвердил создание нового ресурса и вернул его представление.</a:t>
            </a:r>
          </a:p>
        </p:txBody>
      </p:sp>
    </p:spTree>
    <p:extLst>
      <p:ext uri="{BB962C8B-B14F-4D97-AF65-F5344CB8AC3E}">
        <p14:creationId xmlns:p14="http://schemas.microsoft.com/office/powerpoint/2010/main" val="1367067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1A0AF0FA-B68C-4A75-8400-6A73B4D619F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oundRect">
            <a:avLst>
              <a:gd name="adj" fmla="val 50000"/>
            </a:avLst>
          </a:prstGeom>
          <a:solidFill>
            <a:srgbClr val="3978A8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5D0DAA6-7D4F-47E2-A3FF-72CA4CEC07E1}"/>
              </a:ext>
            </a:extLst>
          </p:cNvPr>
          <p:cNvSpPr>
            <a:spLocks noGrp="1"/>
          </p:cNvSpPr>
          <p:nvPr/>
        </p:nvSpPr>
        <p:spPr>
          <a:xfrm>
            <a:off x="685800" y="276225"/>
            <a:ext cx="10820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ЗАНЯТИЕ 2 · МОДЕЛИ, СВЯЗИ И CRUD · СХЕМА ВЗАИМОДЕЙСТВИЯ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D36FF91-9E08-4330-B2E1-2C191D1A8516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Путь запроса CRUD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87ABC49-C84B-4F98-9A23-9582D209C8D5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714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7222"/>
          </a:bodyPr>
          <a:lstStyle>
            <a:defPPr algn="l"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МДК.09.01 · REST API на Laravel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79AF33F-87BB-44E1-A780-8ED5AFC1931A}"/>
              </a:ext>
            </a:extLst>
          </p:cNvPr>
          <p:cNvSpPr>
            <a:spLocks noGrp="1"/>
          </p:cNvSpPr>
          <p:nvPr/>
        </p:nvSpPr>
        <p:spPr>
          <a:xfrm>
            <a:off x="10572750" y="649605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7222"/>
          </a:bodyPr>
          <a:lstStyle>
            <a:defPPr algn="r"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77C"/>
                </a:solidFill>
                <a:latin typeface="Arial"/>
                <a:ea typeface="Arial"/>
                <a:cs typeface="Arial"/>
              </a:rPr>
              <a:t>07 / 11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684AD8B4-3D6E-48E2-82EC-21DD191C7FE5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2476500" cy="2190750"/>
          </a:xfrm>
          <a:prstGeom prst="roundRect">
            <a:avLst>
              <a:gd name="adj" fmla="val 3478"/>
            </a:avLst>
          </a:prstGeom>
          <a:solidFill>
            <a:srgbClr val="EAF4F8"/>
          </a:solidFill>
          <a:ln w="0">
            <a:noFill/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EA5824F-8BC8-43AB-B74B-BCCE136EC8FF}"/>
              </a:ext>
            </a:extLst>
          </p:cNvPr>
          <p:cNvSpPr>
            <a:spLocks noGrp="1"/>
          </p:cNvSpPr>
          <p:nvPr/>
        </p:nvSpPr>
        <p:spPr>
          <a:xfrm>
            <a:off x="876300" y="2114550"/>
            <a:ext cx="428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9B8C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277062B-1806-4F3F-BBE8-C2383AD3C245}"/>
              </a:ext>
            </a:extLst>
          </p:cNvPr>
          <p:cNvSpPr>
            <a:spLocks noGrp="1"/>
          </p:cNvSpPr>
          <p:nvPr/>
        </p:nvSpPr>
        <p:spPr>
          <a:xfrm>
            <a:off x="876300" y="2552700"/>
            <a:ext cx="209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Bruno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502E965-5878-482F-94B2-B442B362AF9D}"/>
              </a:ext>
            </a:extLst>
          </p:cNvPr>
          <p:cNvSpPr>
            <a:spLocks noGrp="1"/>
          </p:cNvSpPr>
          <p:nvPr/>
        </p:nvSpPr>
        <p:spPr>
          <a:xfrm>
            <a:off x="876300" y="3086100"/>
            <a:ext cx="20955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Отправляет метод, URL, заголовки и JSON.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5DEDDC4-ECBF-4F1A-9669-25B9649F167A}"/>
              </a:ext>
            </a:extLst>
          </p:cNvPr>
          <p:cNvSpPr>
            <a:spLocks noGrp="1"/>
          </p:cNvSpPr>
          <p:nvPr/>
        </p:nvSpPr>
        <p:spPr>
          <a:xfrm>
            <a:off x="3190875" y="2733675"/>
            <a:ext cx="266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4203"/>
          </a:bodyPr>
          <a:lstStyle>
            <a:defPPr algn="l"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69B8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88BF2C4C-A085-4573-9DCE-E1EC33CA9F57}"/>
              </a:ext>
            </a:extLst>
          </p:cNvPr>
          <p:cNvSpPr>
            <a:spLocks noGrp="1"/>
          </p:cNvSpPr>
          <p:nvPr/>
        </p:nvSpPr>
        <p:spPr>
          <a:xfrm>
            <a:off x="3409950" y="1952625"/>
            <a:ext cx="2476500" cy="2190750"/>
          </a:xfrm>
          <a:prstGeom prst="roundRect">
            <a:avLst>
              <a:gd name="adj" fmla="val 3478"/>
            </a:avLst>
          </a:prstGeom>
          <a:solidFill>
            <a:srgbClr val="E9F5EF"/>
          </a:solidFill>
          <a:ln w="0">
            <a:noFill/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E7BD687C-1F32-431E-AFD5-515CE472FF0E}"/>
              </a:ext>
            </a:extLst>
          </p:cNvPr>
          <p:cNvSpPr>
            <a:spLocks noGrp="1"/>
          </p:cNvSpPr>
          <p:nvPr/>
        </p:nvSpPr>
        <p:spPr>
          <a:xfrm>
            <a:off x="3600450" y="2114550"/>
            <a:ext cx="428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9B8C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D155ACB-C5F2-4ADF-A93A-350318A70A00}"/>
              </a:ext>
            </a:extLst>
          </p:cNvPr>
          <p:cNvSpPr>
            <a:spLocks noGrp="1"/>
          </p:cNvSpPr>
          <p:nvPr/>
        </p:nvSpPr>
        <p:spPr>
          <a:xfrm>
            <a:off x="3600450" y="2552700"/>
            <a:ext cx="209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Маршрут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13B41EBC-9D71-43B8-9EED-163037175305}"/>
              </a:ext>
            </a:extLst>
          </p:cNvPr>
          <p:cNvSpPr>
            <a:spLocks noGrp="1"/>
          </p:cNvSpPr>
          <p:nvPr/>
        </p:nvSpPr>
        <p:spPr>
          <a:xfrm>
            <a:off x="3600450" y="3086100"/>
            <a:ext cx="20955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Находит подходящий обработчик в routes/api.php.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48376BF-7200-4BF0-B945-B3FD2FC3E4F6}"/>
              </a:ext>
            </a:extLst>
          </p:cNvPr>
          <p:cNvSpPr>
            <a:spLocks noGrp="1"/>
          </p:cNvSpPr>
          <p:nvPr/>
        </p:nvSpPr>
        <p:spPr>
          <a:xfrm>
            <a:off x="5915025" y="2733675"/>
            <a:ext cx="266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4203"/>
          </a:bodyPr>
          <a:lstStyle>
            <a:defPPr algn="l"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69B8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EF2199F0-0B31-46D9-A7C6-3E25EAF22F08}"/>
              </a:ext>
            </a:extLst>
          </p:cNvPr>
          <p:cNvSpPr>
            <a:spLocks noGrp="1"/>
          </p:cNvSpPr>
          <p:nvPr/>
        </p:nvSpPr>
        <p:spPr>
          <a:xfrm>
            <a:off x="6134100" y="1952625"/>
            <a:ext cx="2476500" cy="2190750"/>
          </a:xfrm>
          <a:prstGeom prst="roundRect">
            <a:avLst>
              <a:gd name="adj" fmla="val 3478"/>
            </a:avLst>
          </a:prstGeom>
          <a:solidFill>
            <a:srgbClr val="FFF8E9"/>
          </a:solidFill>
          <a:ln w="0">
            <a:noFill/>
            <a:prstDash val="solid"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32C5F0E8-7020-4F5A-A68E-BF199AF80184}"/>
              </a:ext>
            </a:extLst>
          </p:cNvPr>
          <p:cNvSpPr>
            <a:spLocks noGrp="1"/>
          </p:cNvSpPr>
          <p:nvPr/>
        </p:nvSpPr>
        <p:spPr>
          <a:xfrm>
            <a:off x="6324600" y="2114550"/>
            <a:ext cx="428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9B8C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7DC2EAB9-1374-4563-B6DA-9FE8F61B92B3}"/>
              </a:ext>
            </a:extLst>
          </p:cNvPr>
          <p:cNvSpPr>
            <a:spLocks noGrp="1"/>
          </p:cNvSpPr>
          <p:nvPr/>
        </p:nvSpPr>
        <p:spPr>
          <a:xfrm>
            <a:off x="6324600" y="2552700"/>
            <a:ext cx="209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9202"/>
          </a:bodyPr>
          <a:lstStyle>
            <a:defPPr algn="l"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Контроллер и модель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D0579AFC-C7DC-46BD-95A5-D2D231D3ED52}"/>
              </a:ext>
            </a:extLst>
          </p:cNvPr>
          <p:cNvSpPr>
            <a:spLocks noGrp="1"/>
          </p:cNvSpPr>
          <p:nvPr/>
        </p:nvSpPr>
        <p:spPr>
          <a:xfrm>
            <a:off x="6324600" y="3086100"/>
            <a:ext cx="20955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Проверяют данные и вызывают нужную операцию Eloquent.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8101C14B-4FF9-4C51-864A-18222EBA4EB2}"/>
              </a:ext>
            </a:extLst>
          </p:cNvPr>
          <p:cNvSpPr>
            <a:spLocks noGrp="1"/>
          </p:cNvSpPr>
          <p:nvPr/>
        </p:nvSpPr>
        <p:spPr>
          <a:xfrm>
            <a:off x="8639175" y="2733675"/>
            <a:ext cx="266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4203"/>
          </a:bodyPr>
          <a:lstStyle>
            <a:defPPr algn="l"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69B8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EE5709E4-A0FB-4AE1-B71F-86F21880AECA}"/>
              </a:ext>
            </a:extLst>
          </p:cNvPr>
          <p:cNvSpPr>
            <a:spLocks noGrp="1"/>
          </p:cNvSpPr>
          <p:nvPr/>
        </p:nvSpPr>
        <p:spPr>
          <a:xfrm>
            <a:off x="8858250" y="1952625"/>
            <a:ext cx="2476500" cy="2190750"/>
          </a:xfrm>
          <a:prstGeom prst="roundRect">
            <a:avLst>
              <a:gd name="adj" fmla="val 3478"/>
            </a:avLst>
          </a:prstGeom>
          <a:solidFill>
            <a:srgbClr val="F2F5F7"/>
          </a:solidFill>
          <a:ln w="0">
            <a:noFill/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5EA82CD5-3FAE-4425-A771-1B930023A5E8}"/>
              </a:ext>
            </a:extLst>
          </p:cNvPr>
          <p:cNvSpPr>
            <a:spLocks noGrp="1"/>
          </p:cNvSpPr>
          <p:nvPr/>
        </p:nvSpPr>
        <p:spPr>
          <a:xfrm>
            <a:off x="9048750" y="2114550"/>
            <a:ext cx="428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9B8C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30DD0430-1146-4746-955C-1901525C5172}"/>
              </a:ext>
            </a:extLst>
          </p:cNvPr>
          <p:cNvSpPr>
            <a:spLocks noGrp="1"/>
          </p:cNvSpPr>
          <p:nvPr/>
        </p:nvSpPr>
        <p:spPr>
          <a:xfrm>
            <a:off x="9048750" y="2552700"/>
            <a:ext cx="209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База и ответ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F45A58D3-A0A6-46F7-809C-D745BE24573F}"/>
              </a:ext>
            </a:extLst>
          </p:cNvPr>
          <p:cNvSpPr>
            <a:spLocks noGrp="1"/>
          </p:cNvSpPr>
          <p:nvPr/>
        </p:nvSpPr>
        <p:spPr>
          <a:xfrm>
            <a:off x="9048750" y="3086100"/>
            <a:ext cx="20955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Сохраняет или читает строки; Laravel возвращает JSON и статус.</a:t>
            </a:r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8506D54F-61CD-408C-AD65-2B9589C70D0F}"/>
              </a:ext>
            </a:extLst>
          </p:cNvPr>
          <p:cNvSpPr>
            <a:spLocks noGrp="1"/>
          </p:cNvSpPr>
          <p:nvPr/>
        </p:nvSpPr>
        <p:spPr>
          <a:xfrm>
            <a:off x="685800" y="4495800"/>
            <a:ext cx="10820400" cy="1200150"/>
          </a:xfrm>
          <a:prstGeom prst="roundRect">
            <a:avLst>
              <a:gd name="adj" fmla="val 6349"/>
            </a:avLst>
          </a:prstGeom>
          <a:solidFill>
            <a:srgbClr val="EAF4F8"/>
          </a:solidFill>
          <a:ln w="0">
            <a:noFill/>
            <a:prstDash val="solid"/>
          </a:ln>
        </p:spPr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0247CFFB-525C-4B0E-A5AD-76557FCF3E19}"/>
              </a:ext>
            </a:extLst>
          </p:cNvPr>
          <p:cNvSpPr>
            <a:spLocks noGrp="1"/>
          </p:cNvSpPr>
          <p:nvPr/>
        </p:nvSpPr>
        <p:spPr>
          <a:xfrm>
            <a:off x="914400" y="46767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Связь этапов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DA45BA0E-91DC-44BF-9C11-4FF55D78598E}"/>
              </a:ext>
            </a:extLst>
          </p:cNvPr>
          <p:cNvSpPr>
            <a:spLocks noGrp="1"/>
          </p:cNvSpPr>
          <p:nvPr/>
        </p:nvSpPr>
        <p:spPr>
          <a:xfrm>
            <a:off x="2714625" y="4629150"/>
            <a:ext cx="84772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CRUD: Create, Read, Update, Delete. </a:t>
            </a:r>
            <a:r>
              <a:rPr sz="1500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Для</a:t>
            </a:r>
            <a:r>
              <a:rPr sz="1500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клиента</a:t>
            </a:r>
            <a:r>
              <a:rPr sz="1500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это</a:t>
            </a:r>
            <a:r>
              <a:rPr sz="1500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четыре</a:t>
            </a:r>
            <a:r>
              <a:rPr sz="1500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действия</a:t>
            </a:r>
            <a:r>
              <a:rPr sz="1500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над</a:t>
            </a:r>
            <a:r>
              <a:rPr sz="1500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ресурсом</a:t>
            </a:r>
            <a:r>
              <a:rPr sz="1500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, а </a:t>
            </a:r>
            <a:r>
              <a:rPr sz="1500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для</a:t>
            </a:r>
            <a:r>
              <a:rPr sz="1500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сервера</a:t>
            </a:r>
            <a:r>
              <a:rPr sz="1500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–</a:t>
            </a:r>
            <a:r>
              <a:rPr sz="1500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согласованные</a:t>
            </a:r>
            <a:r>
              <a:rPr sz="1500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маршруты</a:t>
            </a:r>
            <a:r>
              <a:rPr sz="1500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, </a:t>
            </a:r>
            <a:r>
              <a:rPr sz="1500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методы</a:t>
            </a:r>
            <a:r>
              <a:rPr sz="1500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и </a:t>
            </a:r>
            <a:r>
              <a:rPr sz="1500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ответы</a:t>
            </a:r>
            <a:r>
              <a:rPr sz="1500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19002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E7596FFE-A473-4648-867E-FAC02CCB0AB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oundRect">
            <a:avLst>
              <a:gd name="adj" fmla="val 50000"/>
            </a:avLst>
          </a:prstGeom>
          <a:solidFill>
            <a:srgbClr val="3978A8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FCD7D17-3418-4141-AB20-17200ED5B0FC}"/>
              </a:ext>
            </a:extLst>
          </p:cNvPr>
          <p:cNvSpPr>
            <a:spLocks noGrp="1"/>
          </p:cNvSpPr>
          <p:nvPr/>
        </p:nvSpPr>
        <p:spPr>
          <a:xfrm>
            <a:off x="685800" y="276225"/>
            <a:ext cx="10820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ЗАНЯТИЕ 2 · МОДЕЛИ, СВЯЗИ И CRUD · ДЕМОНСТРАЦИЯ · BRUNO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1DDAC2A-865A-4773-BCDE-76CB5F7E6AC7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Операция и код ответа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6F75677-DFB3-4479-A5E5-0100E7EDF3DC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714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7222"/>
          </a:bodyPr>
          <a:lstStyle>
            <a:defPPr algn="l"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МДК.09.01 · REST API на Laravel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A1978C9-8735-4463-B162-ED15AB12F50D}"/>
              </a:ext>
            </a:extLst>
          </p:cNvPr>
          <p:cNvSpPr>
            <a:spLocks noGrp="1"/>
          </p:cNvSpPr>
          <p:nvPr/>
        </p:nvSpPr>
        <p:spPr>
          <a:xfrm>
            <a:off x="10572750" y="649605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7222"/>
          </a:bodyPr>
          <a:lstStyle>
            <a:defPPr algn="r"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77C"/>
                </a:solidFill>
                <a:latin typeface="Arial"/>
                <a:ea typeface="Arial"/>
                <a:cs typeface="Arial"/>
              </a:rPr>
              <a:t>08 / 11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169A7C7D-CFAC-4637-8175-1293E13C6353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5295900" cy="2905125"/>
          </a:xfrm>
          <a:prstGeom prst="roundRect">
            <a:avLst>
              <a:gd name="adj" fmla="val 2623"/>
            </a:avLst>
          </a:prstGeom>
          <a:solidFill>
            <a:srgbClr val="EAF4F8"/>
          </a:solidFill>
          <a:ln w="0">
            <a:noFill/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4407783-1A06-4AF0-892B-A9052BC2CE87}"/>
              </a:ext>
            </a:extLst>
          </p:cNvPr>
          <p:cNvSpPr>
            <a:spLocks noGrp="1"/>
          </p:cNvSpPr>
          <p:nvPr/>
        </p:nvSpPr>
        <p:spPr>
          <a:xfrm>
            <a:off x="895350" y="1714500"/>
            <a:ext cx="485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Создать оборудование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CBCDBFF-5781-4077-BD66-F7B4E3D4905B}"/>
              </a:ext>
            </a:extLst>
          </p:cNvPr>
          <p:cNvSpPr>
            <a:spLocks noGrp="1"/>
          </p:cNvSpPr>
          <p:nvPr/>
        </p:nvSpPr>
        <p:spPr>
          <a:xfrm>
            <a:off x="895350" y="2181225"/>
            <a:ext cx="485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650" b="1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650" b="1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650" b="1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650" b="1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650" b="1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650" b="1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650" b="1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650" b="1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650" b="1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650" b="1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buNone/>
              <a:defRPr sz="1650" b="1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24364B"/>
                </a:solidFill>
                <a:latin typeface="Consolas"/>
                <a:ea typeface="Consolas"/>
                <a:cs typeface="Consolas"/>
              </a:rPr>
              <a:t>POST  /api/equipment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2D1AB8D-33BA-43BE-94ED-D4575DB801AA}"/>
              </a:ext>
            </a:extLst>
          </p:cNvPr>
          <p:cNvSpPr>
            <a:spLocks noGrp="1"/>
          </p:cNvSpPr>
          <p:nvPr/>
        </p:nvSpPr>
        <p:spPr>
          <a:xfrm>
            <a:off x="895350" y="2667000"/>
            <a:ext cx="4857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201 Created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7623D958-4441-4713-929A-12631611CFC9}"/>
              </a:ext>
            </a:extLst>
          </p:cNvPr>
          <p:cNvSpPr>
            <a:spLocks noGrp="1"/>
          </p:cNvSpPr>
          <p:nvPr/>
        </p:nvSpPr>
        <p:spPr>
          <a:xfrm>
            <a:off x="895350" y="3152775"/>
            <a:ext cx="48577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Проверьте, что в JSON вернулась новая запись с id и переданными полями name и location.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FB8C93A4-1D7D-431B-AE53-4AD1D2A4DAD8}"/>
              </a:ext>
            </a:extLst>
          </p:cNvPr>
          <p:cNvSpPr>
            <a:spLocks noGrp="1"/>
          </p:cNvSpPr>
          <p:nvPr/>
        </p:nvSpPr>
        <p:spPr>
          <a:xfrm>
            <a:off x="6210300" y="1524000"/>
            <a:ext cx="5295900" cy="2905125"/>
          </a:xfrm>
          <a:prstGeom prst="roundRect">
            <a:avLst>
              <a:gd name="adj" fmla="val 2623"/>
            </a:avLst>
          </a:prstGeom>
          <a:solidFill>
            <a:srgbClr val="FFF8E9"/>
          </a:solidFill>
          <a:ln w="0">
            <a:noFill/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3E426A8-0718-4804-8809-C76047F04094}"/>
              </a:ext>
            </a:extLst>
          </p:cNvPr>
          <p:cNvSpPr>
            <a:spLocks noGrp="1"/>
          </p:cNvSpPr>
          <p:nvPr/>
        </p:nvSpPr>
        <p:spPr>
          <a:xfrm>
            <a:off x="6419850" y="1714500"/>
            <a:ext cx="485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Изменить заявку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7FEB558-4B0F-411C-8F04-D78146CF432F}"/>
              </a:ext>
            </a:extLst>
          </p:cNvPr>
          <p:cNvSpPr>
            <a:spLocks noGrp="1"/>
          </p:cNvSpPr>
          <p:nvPr/>
        </p:nvSpPr>
        <p:spPr>
          <a:xfrm>
            <a:off x="6419850" y="2181225"/>
            <a:ext cx="485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650" b="1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650" b="1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650" b="1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650" b="1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650" b="1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650" b="1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650" b="1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650" b="1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650" b="1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650" b="1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buNone/>
              <a:defRPr sz="1650" b="1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24364B"/>
                </a:solidFill>
                <a:latin typeface="Consolas"/>
                <a:ea typeface="Consolas"/>
                <a:cs typeface="Consolas"/>
              </a:rPr>
              <a:t>PATCH  /api/requests/{id}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5AECEBFD-D716-441E-8986-C142A152F9FA}"/>
              </a:ext>
            </a:extLst>
          </p:cNvPr>
          <p:cNvSpPr>
            <a:spLocks noGrp="1"/>
          </p:cNvSpPr>
          <p:nvPr/>
        </p:nvSpPr>
        <p:spPr>
          <a:xfrm>
            <a:off x="6419850" y="2667000"/>
            <a:ext cx="4857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200 OK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FCD4DF7-9892-4B82-9290-95133AF922B9}"/>
              </a:ext>
            </a:extLst>
          </p:cNvPr>
          <p:cNvSpPr>
            <a:spLocks noGrp="1"/>
          </p:cNvSpPr>
          <p:nvPr/>
        </p:nvSpPr>
        <p:spPr>
          <a:xfrm>
            <a:off x="6419850" y="3152775"/>
            <a:ext cx="48577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350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Сервер</a:t>
            </a:r>
            <a:r>
              <a:rPr sz="1350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возвращает</a:t>
            </a:r>
            <a:r>
              <a:rPr sz="1350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изменённый</a:t>
            </a:r>
            <a:r>
              <a:rPr sz="1350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объект</a:t>
            </a:r>
            <a:r>
              <a:rPr sz="1350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. </a:t>
            </a:r>
            <a:r>
              <a:rPr sz="1350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После</a:t>
            </a:r>
            <a:r>
              <a:rPr sz="1350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DELETE </a:t>
            </a:r>
            <a:r>
              <a:rPr sz="1350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ожидается</a:t>
            </a:r>
            <a:r>
              <a:rPr sz="1350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204 </a:t>
            </a:r>
            <a:r>
              <a:rPr sz="1350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без</a:t>
            </a:r>
            <a:r>
              <a:rPr sz="1350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тела</a:t>
            </a:r>
            <a:r>
              <a:rPr sz="1350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; </a:t>
            </a:r>
            <a:r>
              <a:rPr sz="1350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повторный</a:t>
            </a:r>
            <a:r>
              <a:rPr sz="1350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GET </a:t>
            </a:r>
            <a:r>
              <a:rPr sz="1350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удалённого</a:t>
            </a:r>
            <a:r>
              <a:rPr sz="1350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id 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–</a:t>
            </a:r>
            <a:r>
              <a:rPr sz="1350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404.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D7B8EDA5-95B8-402A-A687-08DFDB1455F7}"/>
              </a:ext>
            </a:extLst>
          </p:cNvPr>
          <p:cNvSpPr>
            <a:spLocks noGrp="1"/>
          </p:cNvSpPr>
          <p:nvPr/>
        </p:nvSpPr>
        <p:spPr>
          <a:xfrm>
            <a:off x="685800" y="4667250"/>
            <a:ext cx="10820400" cy="1095375"/>
          </a:xfrm>
          <a:prstGeom prst="roundRect">
            <a:avLst>
              <a:gd name="adj" fmla="val 6957"/>
            </a:avLst>
          </a:prstGeom>
          <a:solidFill>
            <a:srgbClr val="E9F5EF"/>
          </a:solidFill>
          <a:ln w="0">
            <a:noFill/>
            <a:prstDash val="solid"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C0C2C09-C652-41E7-9772-56E34A077CCA}"/>
              </a:ext>
            </a:extLst>
          </p:cNvPr>
          <p:cNvSpPr>
            <a:spLocks noGrp="1"/>
          </p:cNvSpPr>
          <p:nvPr/>
        </p:nvSpPr>
        <p:spPr>
          <a:xfrm>
            <a:off x="895350" y="4829175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Проверка понимания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20607DCF-D9CE-40AC-A71D-E0496BA946A5}"/>
              </a:ext>
            </a:extLst>
          </p:cNvPr>
          <p:cNvSpPr>
            <a:spLocks noGrp="1"/>
          </p:cNvSpPr>
          <p:nvPr/>
        </p:nvSpPr>
        <p:spPr>
          <a:xfrm>
            <a:off x="3381375" y="4800600"/>
            <a:ext cx="7810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Как по результату Bruno понять, что запись действительно изменилась, а не только запрос получил успешный статус?</a:t>
            </a:r>
          </a:p>
        </p:txBody>
      </p:sp>
    </p:spTree>
    <p:extLst>
      <p:ext uri="{BB962C8B-B14F-4D97-AF65-F5344CB8AC3E}">
        <p14:creationId xmlns:p14="http://schemas.microsoft.com/office/powerpoint/2010/main" val="16215327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14515503-111A-4F8F-9272-54F4B95D136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oundRect">
            <a:avLst>
              <a:gd name="adj" fmla="val 50000"/>
            </a:avLst>
          </a:prstGeom>
          <a:solidFill>
            <a:srgbClr val="3978A8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0430EE6-32BE-46ED-86B5-39D8F95BCE36}"/>
              </a:ext>
            </a:extLst>
          </p:cNvPr>
          <p:cNvSpPr>
            <a:spLocks noGrp="1"/>
          </p:cNvSpPr>
          <p:nvPr/>
        </p:nvSpPr>
        <p:spPr>
          <a:xfrm>
            <a:off x="685800" y="276225"/>
            <a:ext cx="10820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ЗАНЯТИЕ 2 · МОДЕЛИ, СВЯЗИ И CRUD · ОБСУЖДЕНИЕ · ПРОФИЛАКТИКА ОШИБОК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1E777C7-683B-4734-91A9-57A7E6FBEED5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Безопасность и типичные ошибки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E684329-4946-49BB-99E3-0AFC78BAB2EE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714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7222"/>
          </a:bodyPr>
          <a:lstStyle>
            <a:defPPr algn="l"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МДК.09.01 · REST API на Laravel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6128BA0-F18F-4FC6-A4A7-A814C5A0EF58}"/>
              </a:ext>
            </a:extLst>
          </p:cNvPr>
          <p:cNvSpPr>
            <a:spLocks noGrp="1"/>
          </p:cNvSpPr>
          <p:nvPr/>
        </p:nvSpPr>
        <p:spPr>
          <a:xfrm>
            <a:off x="10572750" y="649605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7222"/>
          </a:bodyPr>
          <a:lstStyle>
            <a:defPPr algn="r"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77C"/>
                </a:solidFill>
                <a:latin typeface="Arial"/>
                <a:ea typeface="Arial"/>
                <a:cs typeface="Arial"/>
              </a:rPr>
              <a:t>09 / 11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4B721B4E-016D-4C35-B032-B386C6100F05}"/>
              </a:ext>
            </a:extLst>
          </p:cNvPr>
          <p:cNvSpPr>
            <a:spLocks noGrp="1"/>
          </p:cNvSpPr>
          <p:nvPr/>
        </p:nvSpPr>
        <p:spPr>
          <a:xfrm>
            <a:off x="685800" y="1581150"/>
            <a:ext cx="3371850" cy="3143250"/>
          </a:xfrm>
          <a:prstGeom prst="roundRect">
            <a:avLst>
              <a:gd name="adj" fmla="val 2424"/>
            </a:avLst>
          </a:prstGeom>
          <a:solidFill>
            <a:srgbClr val="FFF8E9"/>
          </a:solidFill>
          <a:ln w="0">
            <a:noFill/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0BFA691-BC8F-4DBF-9DE6-3D64C8ACE837}"/>
              </a:ext>
            </a:extLst>
          </p:cNvPr>
          <p:cNvSpPr>
            <a:spLocks noGrp="1"/>
          </p:cNvSpPr>
          <p:nvPr/>
        </p:nvSpPr>
        <p:spPr>
          <a:xfrm>
            <a:off x="876300" y="1733550"/>
            <a:ext cx="2990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Нет поля в $fillable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0997678-6D46-41D7-9D08-D571691CCE18}"/>
              </a:ext>
            </a:extLst>
          </p:cNvPr>
          <p:cNvSpPr>
            <a:spLocks noGrp="1"/>
          </p:cNvSpPr>
          <p:nvPr/>
        </p:nvSpPr>
        <p:spPr>
          <a:xfrm>
            <a:off x="876300" y="2290118"/>
            <a:ext cx="2990850" cy="23199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Eloquent </a:t>
            </a: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не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заполнит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поле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при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массовом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создании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. </a:t>
            </a: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Связь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может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не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сохраниться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, </a:t>
            </a: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если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equipment_id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забыли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добавить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в </a:t>
            </a: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список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67290100-73CE-4843-BDCF-9A76163F6ED3}"/>
              </a:ext>
            </a:extLst>
          </p:cNvPr>
          <p:cNvSpPr>
            <a:spLocks noGrp="1"/>
          </p:cNvSpPr>
          <p:nvPr/>
        </p:nvSpPr>
        <p:spPr>
          <a:xfrm>
            <a:off x="4286250" y="1581150"/>
            <a:ext cx="3371850" cy="3143250"/>
          </a:xfrm>
          <a:prstGeom prst="roundRect">
            <a:avLst>
              <a:gd name="adj" fmla="val 2424"/>
            </a:avLst>
          </a:prstGeom>
          <a:solidFill>
            <a:srgbClr val="EAF4F8"/>
          </a:solidFill>
          <a:ln w="0">
            <a:noFill/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6A7B174-995B-47B4-BB6E-88B07BCB6D84}"/>
              </a:ext>
            </a:extLst>
          </p:cNvPr>
          <p:cNvSpPr>
            <a:spLocks noGrp="1"/>
          </p:cNvSpPr>
          <p:nvPr/>
        </p:nvSpPr>
        <p:spPr>
          <a:xfrm>
            <a:off x="4476750" y="1733550"/>
            <a:ext cx="2990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5675"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Слишком широкие входные данные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1B69FD0-96B3-4DC5-83F5-C4F282C1E8A9}"/>
              </a:ext>
            </a:extLst>
          </p:cNvPr>
          <p:cNvSpPr>
            <a:spLocks noGrp="1"/>
          </p:cNvSpPr>
          <p:nvPr/>
        </p:nvSpPr>
        <p:spPr>
          <a:xfrm>
            <a:off x="4476750" y="2290118"/>
            <a:ext cx="2990850" cy="23199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Не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передавайте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в create() </a:t>
            </a: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всё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тело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запроса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без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проверки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. </a:t>
            </a: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Используйте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валидированные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значения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и </a:t>
            </a: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разрешённые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поля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модели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CFFC582C-EE96-4E23-B788-35923EB1D139}"/>
              </a:ext>
            </a:extLst>
          </p:cNvPr>
          <p:cNvSpPr>
            <a:spLocks noGrp="1"/>
          </p:cNvSpPr>
          <p:nvPr/>
        </p:nvSpPr>
        <p:spPr>
          <a:xfrm>
            <a:off x="7886700" y="1581150"/>
            <a:ext cx="3371850" cy="3143250"/>
          </a:xfrm>
          <a:prstGeom prst="roundRect">
            <a:avLst>
              <a:gd name="adj" fmla="val 2424"/>
            </a:avLst>
          </a:prstGeom>
          <a:solidFill>
            <a:srgbClr val="E9F5EF"/>
          </a:solidFill>
          <a:ln w="0">
            <a:noFill/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5351CAC-160D-4905-8266-050BA5427772}"/>
              </a:ext>
            </a:extLst>
          </p:cNvPr>
          <p:cNvSpPr>
            <a:spLocks noGrp="1"/>
          </p:cNvSpPr>
          <p:nvPr/>
        </p:nvSpPr>
        <p:spPr>
          <a:xfrm>
            <a:off x="8077200" y="1733550"/>
            <a:ext cx="2990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id не равен разрешению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A66A35F-F68B-439B-BAF8-B7B27F6A793F}"/>
              </a:ext>
            </a:extLst>
          </p:cNvPr>
          <p:cNvSpPr>
            <a:spLocks noGrp="1"/>
          </p:cNvSpPr>
          <p:nvPr/>
        </p:nvSpPr>
        <p:spPr>
          <a:xfrm>
            <a:off x="8077200" y="2290118"/>
            <a:ext cx="2990850" cy="23199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То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, </a:t>
            </a: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что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клиент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знает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id </a:t>
            </a: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записи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, </a:t>
            </a: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не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даёт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ему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право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её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менять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. В </a:t>
            </a: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рабочей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системе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проверяют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пользователя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и </a:t>
            </a: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доступ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к </a:t>
            </a: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ресурсу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отдельно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689E8A79-C2DE-4D69-84E3-ABFFF6C3A956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876300"/>
          </a:xfrm>
          <a:prstGeom prst="roundRect">
            <a:avLst>
              <a:gd name="adj" fmla="val 8696"/>
            </a:avLst>
          </a:prstGeom>
          <a:solidFill>
            <a:srgbClr val="F2F5F7"/>
          </a:solidFill>
          <a:ln w="0">
            <a:noFill/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F3988B8-E2CD-46D1-A05F-C65744D4E09F}"/>
              </a:ext>
            </a:extLst>
          </p:cNvPr>
          <p:cNvSpPr>
            <a:spLocks noGrp="1"/>
          </p:cNvSpPr>
          <p:nvPr/>
        </p:nvSpPr>
        <p:spPr>
          <a:xfrm>
            <a:off x="895350" y="5153025"/>
            <a:ext cx="2000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Вопрос группе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A23540D7-73F4-422F-8ADD-0CA87A8FA302}"/>
              </a:ext>
            </a:extLst>
          </p:cNvPr>
          <p:cNvSpPr>
            <a:spLocks noGrp="1"/>
          </p:cNvSpPr>
          <p:nvPr/>
        </p:nvSpPr>
        <p:spPr>
          <a:xfrm>
            <a:off x="2762250" y="5095875"/>
            <a:ext cx="8477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В чём разница между $fillable, валидацией запроса и проверкой доступа?</a:t>
            </a:r>
          </a:p>
        </p:txBody>
      </p:sp>
    </p:spTree>
    <p:extLst>
      <p:ext uri="{BB962C8B-B14F-4D97-AF65-F5344CB8AC3E}">
        <p14:creationId xmlns:p14="http://schemas.microsoft.com/office/powerpoint/2010/main" val="1818017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19AAE99D-0978-49F9-881A-E2EDFAD3E95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oundRect">
            <a:avLst>
              <a:gd name="adj" fmla="val 50000"/>
            </a:avLst>
          </a:prstGeom>
          <a:solidFill>
            <a:srgbClr val="3978A8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571ED6F-4453-43D0-8D80-E6F0C0F3A9BF}"/>
              </a:ext>
            </a:extLst>
          </p:cNvPr>
          <p:cNvSpPr>
            <a:spLocks noGrp="1"/>
          </p:cNvSpPr>
          <p:nvPr/>
        </p:nvSpPr>
        <p:spPr>
          <a:xfrm>
            <a:off x="685800" y="276225"/>
            <a:ext cx="10820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ЗАНЯТИЕ 2 · МОДЕЛИ, СВЯЗИ И CRUD · ПРАКТИКА · CRUD В BRUNO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F4E963C-A4F5-4003-913A-C74A3FFA0271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Переход к практике в приложении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131369E-F4DC-48DD-AA5C-CCF0498242A1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714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7222"/>
          </a:bodyPr>
          <a:lstStyle>
            <a:defPPr algn="l"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МДК.09.01 · REST API на Laravel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2075DCA-D507-4F0D-830F-A7A275AE7C20}"/>
              </a:ext>
            </a:extLst>
          </p:cNvPr>
          <p:cNvSpPr>
            <a:spLocks noGrp="1"/>
          </p:cNvSpPr>
          <p:nvPr/>
        </p:nvSpPr>
        <p:spPr>
          <a:xfrm>
            <a:off x="10572750" y="649605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7222"/>
          </a:bodyPr>
          <a:lstStyle>
            <a:defPPr algn="r"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77C"/>
                </a:solidFill>
                <a:latin typeface="Arial"/>
                <a:ea typeface="Arial"/>
                <a:cs typeface="Arial"/>
              </a:rPr>
              <a:t>10 / 11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0607107D-56A6-462E-8112-7375416CB042}"/>
              </a:ext>
            </a:extLst>
          </p:cNvPr>
          <p:cNvSpPr>
            <a:spLocks noGrp="1"/>
          </p:cNvSpPr>
          <p:nvPr/>
        </p:nvSpPr>
        <p:spPr>
          <a:xfrm>
            <a:off x="685800" y="1476375"/>
            <a:ext cx="552450" cy="552450"/>
          </a:xfrm>
          <a:prstGeom prst="roundRect">
            <a:avLst>
              <a:gd name="adj" fmla="val 13793"/>
            </a:avLst>
          </a:prstGeom>
          <a:solidFill>
            <a:srgbClr val="3978A8"/>
          </a:solidFill>
          <a:ln w="0">
            <a:noFill/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DB2BB02-2E3F-4B66-AC03-F2F3E05A9C8F}"/>
              </a:ext>
            </a:extLst>
          </p:cNvPr>
          <p:cNvSpPr>
            <a:spLocks noGrp="1"/>
          </p:cNvSpPr>
          <p:nvPr/>
        </p:nvSpPr>
        <p:spPr>
          <a:xfrm>
            <a:off x="866775" y="1600200"/>
            <a:ext cx="2095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7A10107-71CF-4075-9A6F-5FA9A1CA027A}"/>
              </a:ext>
            </a:extLst>
          </p:cNvPr>
          <p:cNvSpPr>
            <a:spLocks noGrp="1"/>
          </p:cNvSpPr>
          <p:nvPr/>
        </p:nvSpPr>
        <p:spPr>
          <a:xfrm>
            <a:off x="1476375" y="1466850"/>
            <a:ext cx="2476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Модель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C340449-8EFF-4040-8A2C-E1BC00F1E9C5}"/>
              </a:ext>
            </a:extLst>
          </p:cNvPr>
          <p:cNvSpPr>
            <a:spLocks noGrp="1"/>
          </p:cNvSpPr>
          <p:nvPr/>
        </p:nvSpPr>
        <p:spPr>
          <a:xfrm>
            <a:off x="4095750" y="1447800"/>
            <a:ext cx="71247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В задании занятия 2 добавьте разрешённые поля и методы отношений.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B67A37BC-1525-4645-B22A-628AB29A31CB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552450" cy="552450"/>
          </a:xfrm>
          <a:prstGeom prst="roundRect">
            <a:avLst>
              <a:gd name="adj" fmla="val 13793"/>
            </a:avLst>
          </a:prstGeom>
          <a:solidFill>
            <a:srgbClr val="69B8C8"/>
          </a:solidFill>
          <a:ln w="0">
            <a:noFill/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F0756F7-3C56-40F6-B4EF-32C48CCE2943}"/>
              </a:ext>
            </a:extLst>
          </p:cNvPr>
          <p:cNvSpPr>
            <a:spLocks noGrp="1"/>
          </p:cNvSpPr>
          <p:nvPr/>
        </p:nvSpPr>
        <p:spPr>
          <a:xfrm>
            <a:off x="866775" y="2600325"/>
            <a:ext cx="2095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6B0F17A-B05E-4BC3-9CE5-C85542A2A895}"/>
              </a:ext>
            </a:extLst>
          </p:cNvPr>
          <p:cNvSpPr>
            <a:spLocks noGrp="1"/>
          </p:cNvSpPr>
          <p:nvPr/>
        </p:nvSpPr>
        <p:spPr>
          <a:xfrm>
            <a:off x="1476375" y="2466975"/>
            <a:ext cx="2476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Контроллер и маршрут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F746935-30A2-49B5-9623-FFCE6950C20E}"/>
              </a:ext>
            </a:extLst>
          </p:cNvPr>
          <p:cNvSpPr>
            <a:spLocks noGrp="1"/>
          </p:cNvSpPr>
          <p:nvPr/>
        </p:nvSpPr>
        <p:spPr>
          <a:xfrm>
            <a:off x="4095750" y="2447925"/>
            <a:ext cx="71247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Дополните работу с оборудованием по шагам задания в приложении.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BB567484-AF87-452D-AB80-D49317C2823B}"/>
              </a:ext>
            </a:extLst>
          </p:cNvPr>
          <p:cNvSpPr>
            <a:spLocks noGrp="1"/>
          </p:cNvSpPr>
          <p:nvPr/>
        </p:nvSpPr>
        <p:spPr>
          <a:xfrm>
            <a:off x="685800" y="3476625"/>
            <a:ext cx="552450" cy="552450"/>
          </a:xfrm>
          <a:prstGeom prst="roundRect">
            <a:avLst>
              <a:gd name="adj" fmla="val 13793"/>
            </a:avLst>
          </a:prstGeom>
          <a:solidFill>
            <a:srgbClr val="3978A8"/>
          </a:solidFill>
          <a:ln w="0">
            <a:noFill/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5CD0D6A8-A98B-4F8A-813F-7B68F08A2152}"/>
              </a:ext>
            </a:extLst>
          </p:cNvPr>
          <p:cNvSpPr>
            <a:spLocks noGrp="1"/>
          </p:cNvSpPr>
          <p:nvPr/>
        </p:nvSpPr>
        <p:spPr>
          <a:xfrm>
            <a:off x="866775" y="3600450"/>
            <a:ext cx="2095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09626F31-B154-42F0-88BD-B03FC0B93F39}"/>
              </a:ext>
            </a:extLst>
          </p:cNvPr>
          <p:cNvSpPr>
            <a:spLocks noGrp="1"/>
          </p:cNvSpPr>
          <p:nvPr/>
        </p:nvSpPr>
        <p:spPr>
          <a:xfrm>
            <a:off x="1476375" y="3467100"/>
            <a:ext cx="2476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Bruno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A2BEEF47-1CBC-4794-B62A-5DA9503C00B8}"/>
              </a:ext>
            </a:extLst>
          </p:cNvPr>
          <p:cNvSpPr>
            <a:spLocks noGrp="1"/>
          </p:cNvSpPr>
          <p:nvPr/>
        </p:nvSpPr>
        <p:spPr>
          <a:xfrm>
            <a:off x="4095750" y="3448050"/>
            <a:ext cx="71247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Проверьте создание, чтение, изменение и удаление ресурса.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2E070564-DF41-418A-AB9E-8115CDBCC6C8}"/>
              </a:ext>
            </a:extLst>
          </p:cNvPr>
          <p:cNvSpPr>
            <a:spLocks noGrp="1"/>
          </p:cNvSpPr>
          <p:nvPr/>
        </p:nvSpPr>
        <p:spPr>
          <a:xfrm>
            <a:off x="685800" y="4476750"/>
            <a:ext cx="552450" cy="552450"/>
          </a:xfrm>
          <a:prstGeom prst="roundRect">
            <a:avLst>
              <a:gd name="adj" fmla="val 13793"/>
            </a:avLst>
          </a:prstGeom>
          <a:solidFill>
            <a:srgbClr val="69B8C8"/>
          </a:solidFill>
          <a:ln w="0">
            <a:noFill/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812736B3-AA84-4528-9499-FFA9DCC025F3}"/>
              </a:ext>
            </a:extLst>
          </p:cNvPr>
          <p:cNvSpPr>
            <a:spLocks noGrp="1"/>
          </p:cNvSpPr>
          <p:nvPr/>
        </p:nvSpPr>
        <p:spPr>
          <a:xfrm>
            <a:off x="866775" y="4600575"/>
            <a:ext cx="2095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DE6EBE4F-6BB6-4B13-84FA-E3A4C474E0F9}"/>
              </a:ext>
            </a:extLst>
          </p:cNvPr>
          <p:cNvSpPr>
            <a:spLocks noGrp="1"/>
          </p:cNvSpPr>
          <p:nvPr/>
        </p:nvSpPr>
        <p:spPr>
          <a:xfrm>
            <a:off x="1476375" y="4467225"/>
            <a:ext cx="2476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Автопроверка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3B713802-AF0C-4A5C-87E1-1F141B92E703}"/>
              </a:ext>
            </a:extLst>
          </p:cNvPr>
          <p:cNvSpPr>
            <a:spLocks noGrp="1"/>
          </p:cNvSpPr>
          <p:nvPr/>
        </p:nvSpPr>
        <p:spPr>
          <a:xfrm>
            <a:off x="4095750" y="4448175"/>
            <a:ext cx="71247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Сверьте коды 201, 200, 204 и затем 404 для удалённой записи.</a:t>
            </a:r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E258A994-9093-46F5-9036-77E104384D1C}"/>
              </a:ext>
            </a:extLst>
          </p:cNvPr>
          <p:cNvSpPr>
            <a:spLocks noGrp="1"/>
          </p:cNvSpPr>
          <p:nvPr/>
        </p:nvSpPr>
        <p:spPr>
          <a:xfrm>
            <a:off x="685800" y="5667375"/>
            <a:ext cx="10820400" cy="428625"/>
          </a:xfrm>
          <a:prstGeom prst="roundRect">
            <a:avLst>
              <a:gd name="adj" fmla="val 17778"/>
            </a:avLst>
          </a:prstGeom>
          <a:solidFill>
            <a:srgbClr val="FFF8E9"/>
          </a:solidFill>
          <a:ln w="0">
            <a:noFill/>
            <a:prstDash val="solid"/>
          </a:ln>
        </p:spPr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13C7DCDD-EFCD-4FA0-9CA0-271E482F1604}"/>
              </a:ext>
            </a:extLst>
          </p:cNvPr>
          <p:cNvSpPr>
            <a:spLocks noGrp="1"/>
          </p:cNvSpPr>
          <p:nvPr/>
        </p:nvSpPr>
        <p:spPr>
          <a:xfrm>
            <a:off x="876300" y="5762625"/>
            <a:ext cx="1038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Порядок действий и проверка проекта находятся во вкладке «Задание».</a:t>
            </a:r>
          </a:p>
        </p:txBody>
      </p:sp>
    </p:spTree>
    <p:extLst>
      <p:ext uri="{BB962C8B-B14F-4D97-AF65-F5344CB8AC3E}">
        <p14:creationId xmlns:p14="http://schemas.microsoft.com/office/powerpoint/2010/main" val="297799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4129A6AB-EBF9-452B-874A-313051886C7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oundRect">
            <a:avLst>
              <a:gd name="adj" fmla="val 50000"/>
            </a:avLst>
          </a:prstGeom>
          <a:solidFill>
            <a:srgbClr val="3978A8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80CE6A0-9F3E-47E4-817F-F2EC65126FE2}"/>
              </a:ext>
            </a:extLst>
          </p:cNvPr>
          <p:cNvSpPr>
            <a:spLocks noGrp="1"/>
          </p:cNvSpPr>
          <p:nvPr/>
        </p:nvSpPr>
        <p:spPr>
          <a:xfrm>
            <a:off x="685800" y="276225"/>
            <a:ext cx="10820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ЗАНЯТИЕ 2 · МОДЕЛИ, СВЯЗИ И CRUD · ЗАКРЕПЛЕНИЕ · РЕФЛЕКСИЯ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6CE53B9-1154-467C-AB07-8A5E3F287A37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4364B"/>
                </a:solidFill>
                <a:latin typeface="Arial"/>
                <a:ea typeface="Arial"/>
                <a:cs typeface="Arial"/>
              </a:rPr>
              <a:t>Что должно остаться после занятия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226E91E-B53F-40F6-9AD6-A881BFC31CD9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714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7222"/>
          </a:bodyPr>
          <a:lstStyle>
            <a:defPPr algn="l"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МДК.09.01 · REST API на Laravel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1540A6B-3D1B-46C1-84E3-1F58271A08BD}"/>
              </a:ext>
            </a:extLst>
          </p:cNvPr>
          <p:cNvSpPr>
            <a:spLocks noGrp="1"/>
          </p:cNvSpPr>
          <p:nvPr/>
        </p:nvSpPr>
        <p:spPr>
          <a:xfrm>
            <a:off x="10572750" y="649605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7222"/>
          </a:bodyPr>
          <a:lstStyle>
            <a:defPPr algn="r"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77C"/>
                </a:solidFill>
                <a:latin typeface="Arial"/>
                <a:ea typeface="Arial"/>
                <a:cs typeface="Arial"/>
              </a:rPr>
              <a:t>11 / 11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462E4AD4-F214-4679-A35B-8BFFE6410064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3978A8"/>
          </a:solidFill>
          <a:ln w="0">
            <a:noFill/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5A36EFE-9B35-498D-BCE6-28F80C8891A8}"/>
              </a:ext>
            </a:extLst>
          </p:cNvPr>
          <p:cNvSpPr>
            <a:spLocks noGrp="1"/>
          </p:cNvSpPr>
          <p:nvPr/>
        </p:nvSpPr>
        <p:spPr>
          <a:xfrm>
            <a:off x="1028700" y="1457325"/>
            <a:ext cx="6096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Eloquent переводит операции с моделями в работу с таблицами.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8451C8DF-AD8C-48D0-862D-FAD5E37F072E}"/>
              </a:ext>
            </a:extLst>
          </p:cNvPr>
          <p:cNvSpPr>
            <a:spLocks noGrp="1"/>
          </p:cNvSpPr>
          <p:nvPr/>
        </p:nvSpPr>
        <p:spPr>
          <a:xfrm>
            <a:off x="685800" y="255270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69B8C8"/>
          </a:solidFill>
          <a:ln w="0">
            <a:noFill/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C998E62-FB6B-418A-85CC-55DC1786A783}"/>
              </a:ext>
            </a:extLst>
          </p:cNvPr>
          <p:cNvSpPr>
            <a:spLocks noGrp="1"/>
          </p:cNvSpPr>
          <p:nvPr/>
        </p:nvSpPr>
        <p:spPr>
          <a:xfrm>
            <a:off x="1028700" y="2486025"/>
            <a:ext cx="6096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$fillable ограничивает поля массового заполнения.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8E6EC10A-D1D4-49BE-B604-D3D76C72F45E}"/>
              </a:ext>
            </a:extLst>
          </p:cNvPr>
          <p:cNvSpPr>
            <a:spLocks noGrp="1"/>
          </p:cNvSpPr>
          <p:nvPr/>
        </p:nvSpPr>
        <p:spPr>
          <a:xfrm>
            <a:off x="685800" y="358140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3978A8"/>
          </a:solidFill>
          <a:ln w="0">
            <a:noFill/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9CDD379-99D9-4BBD-B7FC-F17FD335DF35}"/>
              </a:ext>
            </a:extLst>
          </p:cNvPr>
          <p:cNvSpPr>
            <a:spLocks noGrp="1"/>
          </p:cNvSpPr>
          <p:nvPr/>
        </p:nvSpPr>
        <p:spPr>
          <a:xfrm>
            <a:off x="1028700" y="3514725"/>
            <a:ext cx="6096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belongsTo и hasMany отражают одну связь с разных сторон.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597CA2F-E151-4D5D-A238-72DA05D5ECD6}"/>
              </a:ext>
            </a:extLst>
          </p:cNvPr>
          <p:cNvSpPr>
            <a:spLocks noGrp="1"/>
          </p:cNvSpPr>
          <p:nvPr/>
        </p:nvSpPr>
        <p:spPr>
          <a:xfrm>
            <a:off x="685800" y="461010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69B8C8"/>
          </a:solidFill>
          <a:ln w="0">
            <a:noFill/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FED9F7A-60C7-4714-8E7C-BACEF594CDBF}"/>
              </a:ext>
            </a:extLst>
          </p:cNvPr>
          <p:cNvSpPr>
            <a:spLocks noGrp="1"/>
          </p:cNvSpPr>
          <p:nvPr/>
        </p:nvSpPr>
        <p:spPr>
          <a:xfrm>
            <a:off x="1028700" y="4543425"/>
            <a:ext cx="6096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Маршрут, контроллер, модель и Bruno выполняют разные части общей операции.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DA7C429B-B86B-4A84-82C5-9C36DF8411C3}"/>
              </a:ext>
            </a:extLst>
          </p:cNvPr>
          <p:cNvSpPr>
            <a:spLocks noGrp="1"/>
          </p:cNvSpPr>
          <p:nvPr/>
        </p:nvSpPr>
        <p:spPr>
          <a:xfrm>
            <a:off x="7658100" y="1524000"/>
            <a:ext cx="3848100" cy="2133600"/>
          </a:xfrm>
          <a:prstGeom prst="roundRect">
            <a:avLst>
              <a:gd name="adj" fmla="val 3571"/>
            </a:avLst>
          </a:prstGeom>
          <a:solidFill>
            <a:srgbClr val="EAF4F8"/>
          </a:solidFill>
          <a:ln w="0">
            <a:noFill/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EFB28CDA-92DF-4B5A-9577-4AAB5CCB6221}"/>
              </a:ext>
            </a:extLst>
          </p:cNvPr>
          <p:cNvSpPr>
            <a:spLocks noGrp="1"/>
          </p:cNvSpPr>
          <p:nvPr/>
        </p:nvSpPr>
        <p:spPr>
          <a:xfrm>
            <a:off x="7848600" y="1676400"/>
            <a:ext cx="3467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Вопрос на выход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CD39D7C-6B7B-48ED-A333-0D07F1BC7963}"/>
              </a:ext>
            </a:extLst>
          </p:cNvPr>
          <p:cNvSpPr>
            <a:spLocks noGrp="1"/>
          </p:cNvSpPr>
          <p:nvPr/>
        </p:nvSpPr>
        <p:spPr>
          <a:xfrm>
            <a:off x="7848600" y="2019300"/>
            <a:ext cx="34671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На каком этапе запроса решается, какой метод контроллера запустить?</a:t>
            </a: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B5CCA692-CDA8-45EC-ADAA-CD035E64269E}"/>
              </a:ext>
            </a:extLst>
          </p:cNvPr>
          <p:cNvSpPr>
            <a:spLocks noGrp="1"/>
          </p:cNvSpPr>
          <p:nvPr/>
        </p:nvSpPr>
        <p:spPr>
          <a:xfrm>
            <a:off x="7658100" y="3905250"/>
            <a:ext cx="3848100" cy="1333500"/>
          </a:xfrm>
          <a:prstGeom prst="roundRect">
            <a:avLst>
              <a:gd name="adj" fmla="val 5714"/>
            </a:avLst>
          </a:prstGeom>
          <a:solidFill>
            <a:srgbClr val="E9F5EF"/>
          </a:solidFill>
          <a:ln w="0">
            <a:noFill/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125A6FD0-B926-4A4D-BA45-48EDBC856E05}"/>
              </a:ext>
            </a:extLst>
          </p:cNvPr>
          <p:cNvSpPr>
            <a:spLocks noGrp="1"/>
          </p:cNvSpPr>
          <p:nvPr/>
        </p:nvSpPr>
        <p:spPr>
          <a:xfrm>
            <a:off x="7848600" y="4057650"/>
            <a:ext cx="3467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Переход к следующей теме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0B235A58-0E76-49D9-BBB2-C00E6FF36420}"/>
              </a:ext>
            </a:extLst>
          </p:cNvPr>
          <p:cNvSpPr>
            <a:spLocks noGrp="1"/>
          </p:cNvSpPr>
          <p:nvPr/>
        </p:nvSpPr>
        <p:spPr>
          <a:xfrm>
            <a:off x="7848600" y="4400550"/>
            <a:ext cx="34671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На занятии 3 вынесем правила проверки запроса в Form Request.</a:t>
            </a:r>
          </a:p>
        </p:txBody>
      </p:sp>
    </p:spTree>
    <p:extLst>
      <p:ext uri="{BB962C8B-B14F-4D97-AF65-F5344CB8AC3E}">
        <p14:creationId xmlns:p14="http://schemas.microsoft.com/office/powerpoint/2010/main" val="169070516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1279</Words>
  <Application>Microsoft Office PowerPoint</Application>
  <DocSecurity>0</DocSecurity>
  <PresentationFormat>Широкоэкранный</PresentationFormat>
  <Paragraphs>188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Aptos</vt:lpstr>
      <vt:lpstr>Arial</vt:lpstr>
      <vt:lpstr>Consolas</vt:lpstr>
      <vt:lpstr>Times New Roman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cp:lastModifiedBy>Алёна Александрова</cp:lastModifiedBy>
  <cp:revision>1</cp:revision>
  <dcterms:created xsi:type="dcterms:W3CDTF">2026-10-25T10:42:38Z</dcterms:created>
  <dcterms:modified xsi:type="dcterms:W3CDTF">2026-10-25T10:52:23Z</dcterms:modified>
</cp:coreProperties>
</file>