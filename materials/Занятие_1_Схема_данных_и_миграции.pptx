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02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380F163-7F68-4421-B76C-1BA307EF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6E2A477-FF89-45C5-A666-75178C048A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05B7A46-753F-467D-9D0F-38ACB705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B76154A-B3C0-44B8-89CB-EF078413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1B0186B-649A-4B46-BF72-D6AEE9D1D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7DE7EF5-5CCF-426D-8D81-118F982DB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43C22B4-4014-4A87-B7CB-8D3F3B0DC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075C8AC-B33E-4F3D-94D8-34209330756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E0DE5E1-F626-4DBF-9491-36E1F96E9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20F6C8A-FCA9-49A3-BF4D-EE8587782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99AE120A-6143-48F3-B7CF-47ED6A0148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76700ED-6B03-4FD1-A8CD-1D7E85D0BC61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1 · СХЕМА ДАННЫХ И МИГРАЦИИ · ПЛАН ЗАНЯТИЯ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EAE3DFE-EC89-41F3-B3DB-530F27B96FF2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Занятие 1 · Схема данных и миграции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FC4432F-E33A-453E-93A3-4C85155A629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28A9524-B63D-4C5B-8EF0-015775317998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01 / 10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C8E16EE-B0C2-45F9-A4C8-C30F7F7DD19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895350"/>
          </a:xfrm>
          <a:prstGeom prst="roundRect">
            <a:avLst>
              <a:gd name="adj" fmla="val 8511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8D57CC6-4DD5-41DA-9E14-DE2D11849E4D}"/>
              </a:ext>
            </a:extLst>
          </p:cNvPr>
          <p:cNvSpPr>
            <a:spLocks noGrp="1"/>
          </p:cNvSpPr>
          <p:nvPr/>
        </p:nvSpPr>
        <p:spPr>
          <a:xfrm>
            <a:off x="895350" y="15240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Цель занятия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77E372A-9B77-4963-8A0D-EA2249552DAF}"/>
              </a:ext>
            </a:extLst>
          </p:cNvPr>
          <p:cNvSpPr>
            <a:spLocks noGrp="1"/>
          </p:cNvSpPr>
          <p:nvPr/>
        </p:nvSpPr>
        <p:spPr>
          <a:xfrm>
            <a:off x="2724150" y="1495425"/>
            <a:ext cx="8524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Связать модель предметной области с таблицами базы данных и объяснить, как Laravel применяет миграции.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01CFE55-77AA-4718-AC83-38EE323CCA10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D8475D4-AAD7-4980-ADB1-4FC3C4EF7D5B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 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·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мотивация</a:t>
            </a:r>
            <a:endParaRPr sz="1275" b="1" dirty="0">
              <a:solidFill>
                <a:srgbClr val="397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7C6B7C9-4583-4321-85CC-752FA7F4BE3B}"/>
              </a:ext>
            </a:extLst>
          </p:cNvPr>
          <p:cNvSpPr>
            <a:spLocks noGrp="1"/>
          </p:cNvSpPr>
          <p:nvPr/>
        </p:nvSpPr>
        <p:spPr>
          <a:xfrm>
            <a:off x="857250" y="2990850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Зачем API нужна подготовленная структура данных?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E8F70BB-FFA3-4F85-B513-A3C7D11FC4B7}"/>
              </a:ext>
            </a:extLst>
          </p:cNvPr>
          <p:cNvSpPr>
            <a:spLocks noGrp="1"/>
          </p:cNvSpPr>
          <p:nvPr/>
        </p:nvSpPr>
        <p:spPr>
          <a:xfrm>
            <a:off x="4286250" y="2524125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CD1D900-4878-4A94-91A1-B0567BBBDAC4}"/>
              </a:ext>
            </a:extLst>
          </p:cNvPr>
          <p:cNvSpPr>
            <a:spLocks noGrp="1"/>
          </p:cNvSpPr>
          <p:nvPr/>
        </p:nvSpPr>
        <p:spPr>
          <a:xfrm>
            <a:off x="4457700" y="2667000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 ·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актуализация</a:t>
            </a:r>
            <a:endParaRPr sz="1275" b="1" dirty="0">
              <a:solidFill>
                <a:srgbClr val="397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F7187EC-0692-44C6-A2B1-895D1E4B5887}"/>
              </a:ext>
            </a:extLst>
          </p:cNvPr>
          <p:cNvSpPr>
            <a:spLocks noGrp="1"/>
          </p:cNvSpPr>
          <p:nvPr/>
        </p:nvSpPr>
        <p:spPr>
          <a:xfrm>
            <a:off x="4457700" y="2990850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Проверка среды и знакомство с учебной базой SQLite.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994AD87-C4D1-4F54-8450-97D491455146}"/>
              </a:ext>
            </a:extLst>
          </p:cNvPr>
          <p:cNvSpPr>
            <a:spLocks noGrp="1"/>
          </p:cNvSpPr>
          <p:nvPr/>
        </p:nvSpPr>
        <p:spPr>
          <a:xfrm>
            <a:off x="7886700" y="2524125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DF71226-1218-4FC8-9EB6-FFDA4F92803F}"/>
              </a:ext>
            </a:extLst>
          </p:cNvPr>
          <p:cNvSpPr>
            <a:spLocks noGrp="1"/>
          </p:cNvSpPr>
          <p:nvPr/>
        </p:nvSpPr>
        <p:spPr>
          <a:xfrm>
            <a:off x="8058150" y="2667000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 ·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объяснение</a:t>
            </a:r>
            <a:endParaRPr sz="1275" b="1" dirty="0">
              <a:solidFill>
                <a:srgbClr val="397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E16D30A-C839-4FE1-B394-FFC4DAE0A1AE}"/>
              </a:ext>
            </a:extLst>
          </p:cNvPr>
          <p:cNvSpPr>
            <a:spLocks noGrp="1"/>
          </p:cNvSpPr>
          <p:nvPr/>
        </p:nvSpPr>
        <p:spPr>
          <a:xfrm>
            <a:off x="8058150" y="2990850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Схема, таблица, ключи и назначение миграции.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ED874FE-1A5E-4704-93CF-50EFC2DC44B8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A97D30C-D901-43E5-AA3D-E815D9E22022}"/>
              </a:ext>
            </a:extLst>
          </p:cNvPr>
          <p:cNvSpPr>
            <a:spLocks noGrp="1"/>
          </p:cNvSpPr>
          <p:nvPr/>
        </p:nvSpPr>
        <p:spPr>
          <a:xfrm>
            <a:off x="857250" y="4162425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 ·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работа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 в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приложении</a:t>
            </a:r>
            <a:endParaRPr sz="1275" b="1" dirty="0">
              <a:solidFill>
                <a:srgbClr val="397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90F485F-556F-4E52-BFBB-968668AE71BB}"/>
              </a:ext>
            </a:extLst>
          </p:cNvPr>
          <p:cNvSpPr>
            <a:spLocks noGrp="1"/>
          </p:cNvSpPr>
          <p:nvPr/>
        </p:nvSpPr>
        <p:spPr>
          <a:xfrm>
            <a:off x="857250" y="4486275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Подготовка миграций оборудования и связи с заявкой.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FB4D676E-B9FF-428F-B2F3-E649EB982178}"/>
              </a:ext>
            </a:extLst>
          </p:cNvPr>
          <p:cNvSpPr>
            <a:spLocks noGrp="1"/>
          </p:cNvSpPr>
          <p:nvPr/>
        </p:nvSpPr>
        <p:spPr>
          <a:xfrm>
            <a:off x="4286250" y="40195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E931100-AD32-4E35-BB83-FA73978A3314}"/>
              </a:ext>
            </a:extLst>
          </p:cNvPr>
          <p:cNvSpPr>
            <a:spLocks noGrp="1"/>
          </p:cNvSpPr>
          <p:nvPr/>
        </p:nvSpPr>
        <p:spPr>
          <a:xfrm>
            <a:off x="4457700" y="4162425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 · Bruno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F05915D-4E07-4CA4-81DF-7FC4EA488E8D}"/>
              </a:ext>
            </a:extLst>
          </p:cNvPr>
          <p:cNvSpPr>
            <a:spLocks noGrp="1"/>
          </p:cNvSpPr>
          <p:nvPr/>
        </p:nvSpPr>
        <p:spPr>
          <a:xfrm>
            <a:off x="4457700" y="4486275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POST /api/migrate и GET /api/requests.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2E2984AD-FEAC-42EB-8D4F-78CBFAAC8863}"/>
              </a:ext>
            </a:extLst>
          </p:cNvPr>
          <p:cNvSpPr>
            <a:spLocks noGrp="1"/>
          </p:cNvSpPr>
          <p:nvPr/>
        </p:nvSpPr>
        <p:spPr>
          <a:xfrm>
            <a:off x="7886700" y="4019550"/>
            <a:ext cx="3371850" cy="1238250"/>
          </a:xfrm>
          <a:prstGeom prst="roundRect">
            <a:avLst>
              <a:gd name="adj" fmla="val 6154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B397C3C-75D1-4EEE-B459-A14C1504DB77}"/>
              </a:ext>
            </a:extLst>
          </p:cNvPr>
          <p:cNvSpPr>
            <a:spLocks noGrp="1"/>
          </p:cNvSpPr>
          <p:nvPr/>
        </p:nvSpPr>
        <p:spPr>
          <a:xfrm>
            <a:off x="8058150" y="4162425"/>
            <a:ext cx="30289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lang="ru-RU"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Этап</a:t>
            </a:r>
            <a:r>
              <a:rPr sz="1275" b="1" dirty="0">
                <a:solidFill>
                  <a:srgbClr val="3978A8"/>
                </a:solidFill>
                <a:latin typeface="Arial"/>
                <a:ea typeface="Arial"/>
                <a:cs typeface="Arial"/>
              </a:rPr>
              <a:t> · </a:t>
            </a:r>
            <a:r>
              <a:rPr sz="1275" b="1" dirty="0" err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закрепление</a:t>
            </a:r>
            <a:endParaRPr sz="1275" b="1" dirty="0">
              <a:solidFill>
                <a:srgbClr val="3978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C4D8D41-E1DA-42FB-BA29-06F25BBD38CA}"/>
              </a:ext>
            </a:extLst>
          </p:cNvPr>
          <p:cNvSpPr>
            <a:spLocks noGrp="1"/>
          </p:cNvSpPr>
          <p:nvPr/>
        </p:nvSpPr>
        <p:spPr>
          <a:xfrm>
            <a:off x="8058150" y="4486275"/>
            <a:ext cx="30289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Разбор ответов, тест и переход к моделям.</a:t>
            </a:r>
          </a:p>
        </p:txBody>
      </p:sp>
    </p:spTree>
    <p:extLst>
      <p:ext uri="{BB962C8B-B14F-4D97-AF65-F5344CB8AC3E}">
        <p14:creationId xmlns:p14="http://schemas.microsoft.com/office/powerpoint/2010/main" val="749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3DB612B9-5B47-41EA-A0A1-7F516D6A5F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722C208-50F4-4C09-A1C2-87076D4C7099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1 · СХЕМА ДАННЫХ И МИГРАЦИИ · МОТИВАЦИЯ · АКТУАЛИЗАЦИЯ · ЦЕЛЬ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FF4BD5A-7FBF-4E82-9F63-4FDEE150039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Сначала данные, затем API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AA1ACD-E47C-4E1C-8762-45CC4FB4028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</a:t>
            </a:r>
            <a:r>
              <a:rPr sz="900" b="0" dirty="0" err="1">
                <a:solidFill>
                  <a:srgbClr val="52677C"/>
                </a:solidFill>
                <a:latin typeface="Arial"/>
                <a:ea typeface="Arial"/>
                <a:cs typeface="Arial"/>
              </a:rPr>
              <a:t>на</a:t>
            </a:r>
            <a:r>
              <a:rPr sz="900" b="0" dirty="0">
                <a:solidFill>
                  <a:srgbClr val="52677C"/>
                </a:solidFill>
                <a:latin typeface="Arial"/>
                <a:ea typeface="Arial"/>
                <a:cs typeface="Arial"/>
              </a:rPr>
              <a:t>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F05F2B3-DC76-4A18-BED5-FC4590274E50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1202C4D-E511-4AFE-B6DF-CEC3E4860515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5143500" cy="2571750"/>
          </a:xfrm>
          <a:prstGeom prst="roundRect">
            <a:avLst>
              <a:gd name="adj" fmla="val 2963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8549793-9CF0-4DC0-AB21-527805D21972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Ситуация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5035BAF-7C49-4545-B9D9-B556F3D93091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4762500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Клиент отправляет GET /api/requests, но таблица ещё не создана. Маршрут и контроллер существуют. Почему сервер не может вернуть список заявок?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5762F4C-6FE5-46A5-BF3B-D9A326F5C7BA}"/>
              </a:ext>
            </a:extLst>
          </p:cNvPr>
          <p:cNvSpPr>
            <a:spLocks noGrp="1"/>
          </p:cNvSpPr>
          <p:nvPr/>
        </p:nvSpPr>
        <p:spPr>
          <a:xfrm>
            <a:off x="6076950" y="1504950"/>
            <a:ext cx="5429250" cy="1257300"/>
          </a:xfrm>
          <a:prstGeom prst="roundRect">
            <a:avLst>
              <a:gd name="adj" fmla="val 6061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D5BC919-15FB-4160-9DFC-79A52C433B77}"/>
              </a:ext>
            </a:extLst>
          </p:cNvPr>
          <p:cNvSpPr>
            <a:spLocks noGrp="1"/>
          </p:cNvSpPr>
          <p:nvPr/>
        </p:nvSpPr>
        <p:spPr>
          <a:xfrm>
            <a:off x="6267450" y="16573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Вопрос группе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7F878A-5417-4DB6-974B-982AE211618C}"/>
              </a:ext>
            </a:extLst>
          </p:cNvPr>
          <p:cNvSpPr>
            <a:spLocks noGrp="1"/>
          </p:cNvSpPr>
          <p:nvPr/>
        </p:nvSpPr>
        <p:spPr>
          <a:xfrm>
            <a:off x="6267450" y="2000250"/>
            <a:ext cx="5048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Что должно появиться в базе, чтобы API могло читать и сохранять заявки?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B8DF5B1-F77E-42DC-8EDC-F767DCF7C9B6}"/>
              </a:ext>
            </a:extLst>
          </p:cNvPr>
          <p:cNvSpPr>
            <a:spLocks noGrp="1"/>
          </p:cNvSpPr>
          <p:nvPr/>
        </p:nvSpPr>
        <p:spPr>
          <a:xfrm>
            <a:off x="6076950" y="2952750"/>
            <a:ext cx="5429250" cy="1123950"/>
          </a:xfrm>
          <a:prstGeom prst="roundRect">
            <a:avLst>
              <a:gd name="adj" fmla="val 6780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77FE8FB-2095-4B07-B1F3-382F7AC52057}"/>
              </a:ext>
            </a:extLst>
          </p:cNvPr>
          <p:cNvSpPr>
            <a:spLocks noGrp="1"/>
          </p:cNvSpPr>
          <p:nvPr/>
        </p:nvSpPr>
        <p:spPr>
          <a:xfrm>
            <a:off x="6267450" y="31051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Цель этапа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BF93EB2-B2D3-4F6F-BC08-56E9C35AD550}"/>
              </a:ext>
            </a:extLst>
          </p:cNvPr>
          <p:cNvSpPr>
            <a:spLocks noGrp="1"/>
          </p:cNvSpPr>
          <p:nvPr/>
        </p:nvSpPr>
        <p:spPr>
          <a:xfrm>
            <a:off x="6267450" y="3448050"/>
            <a:ext cx="504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Понять роль схемы и миграций и проследить путь от файла миграции до ответа API.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8F00B57-AE6C-41C9-A8B9-7CACA62375D0}"/>
              </a:ext>
            </a:extLst>
          </p:cNvPr>
          <p:cNvSpPr>
            <a:spLocks noGrp="1"/>
          </p:cNvSpPr>
          <p:nvPr/>
        </p:nvSpPr>
        <p:spPr>
          <a:xfrm>
            <a:off x="685800" y="4333875"/>
            <a:ext cx="10820400" cy="142875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779F6A5-B2FD-46AF-9449-17B3A709204B}"/>
              </a:ext>
            </a:extLst>
          </p:cNvPr>
          <p:cNvSpPr>
            <a:spLocks noGrp="1"/>
          </p:cNvSpPr>
          <p:nvPr/>
        </p:nvSpPr>
        <p:spPr>
          <a:xfrm>
            <a:off x="876300" y="4486275"/>
            <a:ext cx="1043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Ключевой переход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A12CC65-021E-44ED-9E82-B41B23CBE4CF}"/>
              </a:ext>
            </a:extLst>
          </p:cNvPr>
          <p:cNvSpPr>
            <a:spLocks noGrp="1"/>
          </p:cNvSpPr>
          <p:nvPr/>
        </p:nvSpPr>
        <p:spPr>
          <a:xfrm>
            <a:off x="876300" y="4829175"/>
            <a:ext cx="104394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От наблюдаемого поведения API перейти к объяснению устройства: какие данные нужны, какой компонент их обрабатывает и где проверить результат?</a:t>
            </a:r>
          </a:p>
        </p:txBody>
      </p:sp>
    </p:spTree>
    <p:extLst>
      <p:ext uri="{BB962C8B-B14F-4D97-AF65-F5344CB8AC3E}">
        <p14:creationId xmlns:p14="http://schemas.microsoft.com/office/powerpoint/2010/main" val="29176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1C2699FA-C105-45C4-9285-47D1922FF2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23981B7-580E-49C8-98CA-5AF69284238C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1 · СХЕМА ДАННЫХ И МИГРАЦИИ · ОБЪЯСНЕНИЕ ПОНЯТИЙ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9981616-A7B4-4426-8486-9BD5D66AA994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Термины: от предметной области к таблицам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7B355C3-8741-44B3-A830-D7E990ECF63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757394-57D8-4994-8DFC-BD2DD819F025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FA35552-979C-4D18-95EE-27D5C188B48D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5295900" cy="1828800"/>
          </a:xfrm>
          <a:prstGeom prst="roundRect">
            <a:avLst>
              <a:gd name="adj" fmla="val 416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14EAED8-0FDC-4CCE-90B0-26258CD93188}"/>
              </a:ext>
            </a:extLst>
          </p:cNvPr>
          <p:cNvSpPr>
            <a:spLocks noGrp="1"/>
          </p:cNvSpPr>
          <p:nvPr/>
        </p:nvSpPr>
        <p:spPr>
          <a:xfrm>
            <a:off x="876300" y="1628775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Сущность и таблица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7FF3801-703E-4573-8974-E4C151A0D1BF}"/>
              </a:ext>
            </a:extLst>
          </p:cNvPr>
          <p:cNvSpPr>
            <a:spLocks noGrp="1"/>
          </p:cNvSpPr>
          <p:nvPr/>
        </p:nvSpPr>
        <p:spPr>
          <a:xfrm>
            <a:off x="876300" y="1971675"/>
            <a:ext cx="4914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Сущность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объект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предметной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области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Таблица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requests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хранит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заявки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, equipment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оборудование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Строка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соответствует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одной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записи</a:t>
            </a:r>
            <a:r>
              <a:rPr sz="142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98E5885-D42F-487B-BAF5-12714E56F97F}"/>
              </a:ext>
            </a:extLst>
          </p:cNvPr>
          <p:cNvSpPr>
            <a:spLocks noGrp="1"/>
          </p:cNvSpPr>
          <p:nvPr/>
        </p:nvSpPr>
        <p:spPr>
          <a:xfrm>
            <a:off x="6210300" y="1476375"/>
            <a:ext cx="5295900" cy="1828800"/>
          </a:xfrm>
          <a:prstGeom prst="roundRect">
            <a:avLst>
              <a:gd name="adj" fmla="val 416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1A82FB2-6C06-4E00-B6CD-7424E1E7501D}"/>
              </a:ext>
            </a:extLst>
          </p:cNvPr>
          <p:cNvSpPr>
            <a:spLocks noGrp="1"/>
          </p:cNvSpPr>
          <p:nvPr/>
        </p:nvSpPr>
        <p:spPr>
          <a:xfrm>
            <a:off x="6400800" y="1628775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Схема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DC377BA-2A19-4AC9-8998-30ACD3D34029}"/>
              </a:ext>
            </a:extLst>
          </p:cNvPr>
          <p:cNvSpPr>
            <a:spLocks noGrp="1"/>
          </p:cNvSpPr>
          <p:nvPr/>
        </p:nvSpPr>
        <p:spPr>
          <a:xfrm>
            <a:off x="6400800" y="1971675"/>
            <a:ext cx="4914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Структура таблиц: столбцы, типы значений, обязательность полей, ограничения и связи. Описание схемы хранится в проекте.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955D6C4-6AD9-4446-B396-C4C2AF538A1E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5295900" cy="1828800"/>
          </a:xfrm>
          <a:prstGeom prst="roundRect">
            <a:avLst>
              <a:gd name="adj" fmla="val 4167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D31FFA4-B477-4463-A8CD-C0B1D0C47D53}"/>
              </a:ext>
            </a:extLst>
          </p:cNvPr>
          <p:cNvSpPr>
            <a:spLocks noGrp="1"/>
          </p:cNvSpPr>
          <p:nvPr/>
        </p:nvSpPr>
        <p:spPr>
          <a:xfrm>
            <a:off x="876300" y="3724275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Первичный ключ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BDD5691-FD17-487A-AF36-D85801519BE0}"/>
              </a:ext>
            </a:extLst>
          </p:cNvPr>
          <p:cNvSpPr>
            <a:spLocks noGrp="1"/>
          </p:cNvSpPr>
          <p:nvPr/>
        </p:nvSpPr>
        <p:spPr>
          <a:xfrm>
            <a:off x="876300" y="4067175"/>
            <a:ext cx="4914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Уникально находит строку. В Laravel миграция $table-&gt;id() создаёт поле id, пригодное для ссылок на запись.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0D387FC9-E17B-41DD-99A9-A92C16981ECA}"/>
              </a:ext>
            </a:extLst>
          </p:cNvPr>
          <p:cNvSpPr>
            <a:spLocks noGrp="1"/>
          </p:cNvSpPr>
          <p:nvPr/>
        </p:nvSpPr>
        <p:spPr>
          <a:xfrm>
            <a:off x="6210300" y="3571875"/>
            <a:ext cx="5295900" cy="1828800"/>
          </a:xfrm>
          <a:prstGeom prst="roundRect">
            <a:avLst>
              <a:gd name="adj" fmla="val 416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90D3EA8-1642-4FC9-98B9-38AD912D513C}"/>
              </a:ext>
            </a:extLst>
          </p:cNvPr>
          <p:cNvSpPr>
            <a:spLocks noGrp="1"/>
          </p:cNvSpPr>
          <p:nvPr/>
        </p:nvSpPr>
        <p:spPr>
          <a:xfrm>
            <a:off x="6400800" y="3724275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Внешний ключ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8FC2A88-FDF7-4FAB-B49D-80C2F05BE733}"/>
              </a:ext>
            </a:extLst>
          </p:cNvPr>
          <p:cNvSpPr>
            <a:spLocks noGrp="1"/>
          </p:cNvSpPr>
          <p:nvPr/>
        </p:nvSpPr>
        <p:spPr>
          <a:xfrm>
            <a:off x="6400800" y="4067175"/>
            <a:ext cx="49149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Связывает строки таблиц. requests.equipment_id ссылается на equipment.id и не позволяет сослаться на отсутствующее оборудование.</a:t>
            </a:r>
          </a:p>
        </p:txBody>
      </p:sp>
    </p:spTree>
    <p:extLst>
      <p:ext uri="{BB962C8B-B14F-4D97-AF65-F5344CB8AC3E}">
        <p14:creationId xmlns:p14="http://schemas.microsoft.com/office/powerpoint/2010/main" val="104742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D85F0329-47E9-439F-96E0-23C258A4AB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227C531-1A16-4BFC-88BF-10EB339553E7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1 · СХЕМА ДАННЫХ И МИГРАЦИИ · ПОКАЗ КОДА · DATABASE/MIGRATIONS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AE19147-AA34-475F-B3B5-3D0339C36DD5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Миграция создаёт таблицу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5FC5F1-E34F-4D5A-AA6F-3DD87300883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A274A80-820F-4F64-B241-2272DB20A191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87743FE-96F8-44DA-9ECC-FC819A0F6503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6610350" cy="4429125"/>
          </a:xfrm>
          <a:prstGeom prst="roundRect">
            <a:avLst>
              <a:gd name="adj" fmla="val 1720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C34F065-D452-4870-9882-98230A4A4FBC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ФРАГМЕНТ КОДА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C655172-E6BC-4D26-8C49-851ACAC9E990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6191250" cy="375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Schema::create('equipment', function (Blueprint $table) {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$table-&gt;id();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$table-&gt;string('name');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$table-&gt;string('location');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$table-&gt;timestamps();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A631906-BCF0-42B2-A14A-649BCBC79042}"/>
              </a:ext>
            </a:extLst>
          </p:cNvPr>
          <p:cNvSpPr>
            <a:spLocks noGrp="1"/>
          </p:cNvSpPr>
          <p:nvPr/>
        </p:nvSpPr>
        <p:spPr>
          <a:xfrm>
            <a:off x="7562850" y="145732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1CFA5CC-6270-45E9-A394-143C995C788B}"/>
              </a:ext>
            </a:extLst>
          </p:cNvPr>
          <p:cNvSpPr>
            <a:spLocks noGrp="1"/>
          </p:cNvSpPr>
          <p:nvPr/>
        </p:nvSpPr>
        <p:spPr>
          <a:xfrm>
            <a:off x="7753350" y="160972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Что делает Schema::create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C5A080C-081F-4D3A-873D-008FCC2EC585}"/>
              </a:ext>
            </a:extLst>
          </p:cNvPr>
          <p:cNvSpPr>
            <a:spLocks noGrp="1"/>
          </p:cNvSpPr>
          <p:nvPr/>
        </p:nvSpPr>
        <p:spPr>
          <a:xfrm>
            <a:off x="7753350" y="195262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Создаёт таблицу equipment внутри выбранной базы данных.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1C262AA-E1E7-442B-BA2F-BB62BE066B24}"/>
              </a:ext>
            </a:extLst>
          </p:cNvPr>
          <p:cNvSpPr>
            <a:spLocks noGrp="1"/>
          </p:cNvSpPr>
          <p:nvPr/>
        </p:nvSpPr>
        <p:spPr>
          <a:xfrm>
            <a:off x="7562850" y="2952750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32431CD-CEA2-4D78-95C2-6B79AF76AF01}"/>
              </a:ext>
            </a:extLst>
          </p:cNvPr>
          <p:cNvSpPr>
            <a:spLocks noGrp="1"/>
          </p:cNvSpPr>
          <p:nvPr/>
        </p:nvSpPr>
        <p:spPr>
          <a:xfrm>
            <a:off x="7753350" y="310515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Как читаются поля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9C96B2A-D480-475C-82E2-9AFF4F7DD02A}"/>
              </a:ext>
            </a:extLst>
          </p:cNvPr>
          <p:cNvSpPr>
            <a:spLocks noGrp="1"/>
          </p:cNvSpPr>
          <p:nvPr/>
        </p:nvSpPr>
        <p:spPr>
          <a:xfrm>
            <a:off x="7753350" y="3448050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lnSpcReduction="10000"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id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ключ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записи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; name и location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строки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; timestamps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добавляет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created_at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и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updated_at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3C8DFBC-2CCD-4507-A03E-5DBF3D4E18E4}"/>
              </a:ext>
            </a:extLst>
          </p:cNvPr>
          <p:cNvSpPr>
            <a:spLocks noGrp="1"/>
          </p:cNvSpPr>
          <p:nvPr/>
        </p:nvSpPr>
        <p:spPr>
          <a:xfrm>
            <a:off x="7562850" y="444817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1741191-783E-4EC6-8E66-038035FDD7CF}"/>
              </a:ext>
            </a:extLst>
          </p:cNvPr>
          <p:cNvSpPr>
            <a:spLocks noGrp="1"/>
          </p:cNvSpPr>
          <p:nvPr/>
        </p:nvSpPr>
        <p:spPr>
          <a:xfrm>
            <a:off x="7753350" y="460057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Где находится код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410A7B9-DDFD-464D-B3B7-54B943DA806A}"/>
              </a:ext>
            </a:extLst>
          </p:cNvPr>
          <p:cNvSpPr>
            <a:spLocks noGrp="1"/>
          </p:cNvSpPr>
          <p:nvPr/>
        </p:nvSpPr>
        <p:spPr>
          <a:xfrm>
            <a:off x="7753350" y="494347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Файл миграции расположен в database/migrations. Имя с датой задаёт порядок применения.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69507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55DD4B69-2B41-4890-A727-ADB697454E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9D92D0A-FB6B-4A74-B2A2-00FE22B77406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1 · СХЕМА ДАННЫХ И МИГРАЦИИ · ПОЯСНЕНИЕ СХЕМЫ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4BEB173-66F2-474E-81EA-9FCE10B1B0E3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Связь заявки с оборудованием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54A5208-703F-4623-9B2B-9EAD362FC53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9EC0145-82E7-42DB-ADFB-C8E9DCAC4570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42CA171-DE04-4595-86C9-ED10457F2986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6610350" cy="4429125"/>
          </a:xfrm>
          <a:prstGeom prst="roundRect">
            <a:avLst>
              <a:gd name="adj" fmla="val 1720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4F921C7-CB51-414D-8FD1-F710F81BAEEA}"/>
              </a:ext>
            </a:extLst>
          </p:cNvPr>
          <p:cNvSpPr>
            <a:spLocks noGrp="1"/>
          </p:cNvSpPr>
          <p:nvPr/>
        </p:nvSpPr>
        <p:spPr>
          <a:xfrm>
            <a:off x="895350" y="1609725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ФРАГМЕНТ КОДА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EBA9183-B22E-4E0F-8DBF-502019C2D062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6191250" cy="375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Schema::table('requests', function (Blueprint $table) {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$table-&gt;</a:t>
            </a:r>
            <a:r>
              <a:rPr sz="1275" b="0" dirty="0" err="1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foreignId</a:t>
            </a:r>
            <a:r>
              <a:rPr sz="1275" b="0" dirty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('</a:t>
            </a:r>
            <a:r>
              <a:rPr sz="1275" b="0" dirty="0" err="1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equipment_id</a:t>
            </a:r>
            <a:r>
              <a:rPr sz="1275" b="0" dirty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')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-&gt;nullable()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-&gt;constrained('equipment')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        -&gt;</a:t>
            </a:r>
            <a:r>
              <a:rPr sz="1275" b="0" dirty="0" err="1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nullOnDelete</a:t>
            </a:r>
            <a:r>
              <a:rPr sz="1275" b="0" dirty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();</a:t>
            </a:r>
          </a:p>
          <a:p>
            <a:pPr algn="l">
              <a:buNone/>
              <a:defRPr sz="1275" b="0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});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CBD5EE9-15A0-47F7-99DC-97E3001890FA}"/>
              </a:ext>
            </a:extLst>
          </p:cNvPr>
          <p:cNvSpPr>
            <a:spLocks noGrp="1"/>
          </p:cNvSpPr>
          <p:nvPr/>
        </p:nvSpPr>
        <p:spPr>
          <a:xfrm>
            <a:off x="7562850" y="145732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DF50821-8B24-4414-B488-AD1E980A7602}"/>
              </a:ext>
            </a:extLst>
          </p:cNvPr>
          <p:cNvSpPr>
            <a:spLocks noGrp="1"/>
          </p:cNvSpPr>
          <p:nvPr/>
        </p:nvSpPr>
        <p:spPr>
          <a:xfrm>
            <a:off x="7753350" y="160972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foreignId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76BE53D-DE29-4AC7-9680-EA96FE50250C}"/>
              </a:ext>
            </a:extLst>
          </p:cNvPr>
          <p:cNvSpPr>
            <a:spLocks noGrp="1"/>
          </p:cNvSpPr>
          <p:nvPr/>
        </p:nvSpPr>
        <p:spPr>
          <a:xfrm>
            <a:off x="7753350" y="195262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Добавляет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поле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equipment_id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для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хранения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идентификатора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оборудования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655AF34-FB4D-4895-BA53-9DE97C5BABFC}"/>
              </a:ext>
            </a:extLst>
          </p:cNvPr>
          <p:cNvSpPr>
            <a:spLocks noGrp="1"/>
          </p:cNvSpPr>
          <p:nvPr/>
        </p:nvSpPr>
        <p:spPr>
          <a:xfrm>
            <a:off x="7562850" y="2952750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8BCB402-B727-412C-A4B9-48A4F04E9D09}"/>
              </a:ext>
            </a:extLst>
          </p:cNvPr>
          <p:cNvSpPr>
            <a:spLocks noGrp="1"/>
          </p:cNvSpPr>
          <p:nvPr/>
        </p:nvSpPr>
        <p:spPr>
          <a:xfrm>
            <a:off x="7753350" y="310515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constrained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998392-F579-4B52-BE64-A8251E982A1E}"/>
              </a:ext>
            </a:extLst>
          </p:cNvPr>
          <p:cNvSpPr>
            <a:spLocks noGrp="1"/>
          </p:cNvSpPr>
          <p:nvPr/>
        </p:nvSpPr>
        <p:spPr>
          <a:xfrm>
            <a:off x="7753350" y="3448050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Создаёт ограничение ссылки на первичный ключ таблицы equipment.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406422B-23B1-4D4A-8BDA-0728ADBAC2B8}"/>
              </a:ext>
            </a:extLst>
          </p:cNvPr>
          <p:cNvSpPr>
            <a:spLocks noGrp="1"/>
          </p:cNvSpPr>
          <p:nvPr/>
        </p:nvSpPr>
        <p:spPr>
          <a:xfrm>
            <a:off x="7562850" y="4448175"/>
            <a:ext cx="3943350" cy="1314450"/>
          </a:xfrm>
          <a:prstGeom prst="roundRect">
            <a:avLst>
              <a:gd name="adj" fmla="val 5797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EA10214-1E17-4C09-BC24-21FF2D99CF33}"/>
              </a:ext>
            </a:extLst>
          </p:cNvPr>
          <p:cNvSpPr>
            <a:spLocks noGrp="1"/>
          </p:cNvSpPr>
          <p:nvPr/>
        </p:nvSpPr>
        <p:spPr>
          <a:xfrm>
            <a:off x="7753350" y="460057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nullable и nullOnDelete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09F1977-7DFC-4AEB-9E23-95D2024A974E}"/>
              </a:ext>
            </a:extLst>
          </p:cNvPr>
          <p:cNvSpPr>
            <a:spLocks noGrp="1"/>
          </p:cNvSpPr>
          <p:nvPr/>
        </p:nvSpPr>
        <p:spPr>
          <a:xfrm>
            <a:off x="7753350" y="4943475"/>
            <a:ext cx="3562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Заявка может остаться без оборудования; при удалении оборудования ссылка очищается.</a:t>
            </a:r>
          </a:p>
        </p:txBody>
      </p:sp>
    </p:spTree>
    <p:extLst>
      <p:ext uri="{BB962C8B-B14F-4D97-AF65-F5344CB8AC3E}">
        <p14:creationId xmlns:p14="http://schemas.microsoft.com/office/powerpoint/2010/main" val="726735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A0DD0AC-BAB0-4563-8E6E-A8CC23D2C8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3C0BC66-8B47-4592-BF2C-0E9713A11C50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1 · СХЕМА ДАННЫХ И МИГРАЦИИ · ПОРЯДОК РАБОТЫ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A02E151-9F10-43E5-8C1B-C647B182A2B5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Как миграция попадает в базу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FE279CE-1222-4B9F-ADDA-A6EFA1D1613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84D54CA-380F-42C7-BF8E-E9CFDFBE909C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84DEDE7-0F3E-47B3-9196-96B651C15A24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830513F-1DD7-4B6B-97A4-0D915180271B}"/>
              </a:ext>
            </a:extLst>
          </p:cNvPr>
          <p:cNvSpPr>
            <a:spLocks noGrp="1"/>
          </p:cNvSpPr>
          <p:nvPr/>
        </p:nvSpPr>
        <p:spPr>
          <a:xfrm>
            <a:off x="876300" y="2114550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3A21ECF-4FAD-4E55-8C8D-BCBFF707F39B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Файл миграции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977B974-3491-4D5D-B75C-3D4A63591BC1}"/>
              </a:ext>
            </a:extLst>
          </p:cNvPr>
          <p:cNvSpPr>
            <a:spLocks noGrp="1"/>
          </p:cNvSpPr>
          <p:nvPr/>
        </p:nvSpPr>
        <p:spPr>
          <a:xfrm>
            <a:off x="876300" y="30861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Разработчик описывает таблицу или изменение схемы.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891EF40-315D-4D91-874E-743A510BBE49}"/>
              </a:ext>
            </a:extLst>
          </p:cNvPr>
          <p:cNvSpPr>
            <a:spLocks noGrp="1"/>
          </p:cNvSpPr>
          <p:nvPr/>
        </p:nvSpPr>
        <p:spPr>
          <a:xfrm>
            <a:off x="3190875" y="27336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4203"/>
          </a:bodyPr>
          <a:lstStyle>
            <a:defPPr algn="l"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B61EA0B9-A06B-492A-A716-69AB35501293}"/>
              </a:ext>
            </a:extLst>
          </p:cNvPr>
          <p:cNvSpPr>
            <a:spLocks noGrp="1"/>
          </p:cNvSpPr>
          <p:nvPr/>
        </p:nvSpPr>
        <p:spPr>
          <a:xfrm>
            <a:off x="3409950" y="1952625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E491F22-0275-4391-94E0-F1FC906AB9A0}"/>
              </a:ext>
            </a:extLst>
          </p:cNvPr>
          <p:cNvSpPr>
            <a:spLocks noGrp="1"/>
          </p:cNvSpPr>
          <p:nvPr/>
        </p:nvSpPr>
        <p:spPr>
          <a:xfrm>
            <a:off x="3600450" y="2114550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A0AF7E5-A044-4812-BD4E-BB5CAA6B0097}"/>
              </a:ext>
            </a:extLst>
          </p:cNvPr>
          <p:cNvSpPr>
            <a:spLocks noGrp="1"/>
          </p:cNvSpPr>
          <p:nvPr/>
        </p:nvSpPr>
        <p:spPr>
          <a:xfrm>
            <a:off x="3600450" y="25527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Artisan migrate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7F44EA0-0F9E-4430-B334-99D77097EB11}"/>
              </a:ext>
            </a:extLst>
          </p:cNvPr>
          <p:cNvSpPr>
            <a:spLocks noGrp="1"/>
          </p:cNvSpPr>
          <p:nvPr/>
        </p:nvSpPr>
        <p:spPr>
          <a:xfrm>
            <a:off x="3600450" y="30861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Laravel находит ещё не выполненные миграции и применяет их.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DE469AD-C244-442E-8834-1D372D60EB94}"/>
              </a:ext>
            </a:extLst>
          </p:cNvPr>
          <p:cNvSpPr>
            <a:spLocks noGrp="1"/>
          </p:cNvSpPr>
          <p:nvPr/>
        </p:nvSpPr>
        <p:spPr>
          <a:xfrm>
            <a:off x="5915025" y="27336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4203"/>
          </a:bodyPr>
          <a:lstStyle>
            <a:defPPr algn="l"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06E8AD9-29FF-47A2-A6B4-27880345147B}"/>
              </a:ext>
            </a:extLst>
          </p:cNvPr>
          <p:cNvSpPr>
            <a:spLocks noGrp="1"/>
          </p:cNvSpPr>
          <p:nvPr/>
        </p:nvSpPr>
        <p:spPr>
          <a:xfrm>
            <a:off x="6134100" y="1952625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030C615-75AB-41DC-99D6-63AAFEBDB536}"/>
              </a:ext>
            </a:extLst>
          </p:cNvPr>
          <p:cNvSpPr>
            <a:spLocks noGrp="1"/>
          </p:cNvSpPr>
          <p:nvPr/>
        </p:nvSpPr>
        <p:spPr>
          <a:xfrm>
            <a:off x="6324600" y="2114550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9595C1B-937D-47F4-B84C-49F329D2428A}"/>
              </a:ext>
            </a:extLst>
          </p:cNvPr>
          <p:cNvSpPr>
            <a:spLocks noGrp="1"/>
          </p:cNvSpPr>
          <p:nvPr/>
        </p:nvSpPr>
        <p:spPr>
          <a:xfrm>
            <a:off x="6324600" y="25527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D145C1F-1BB7-4F7A-969D-415808A0C5B9}"/>
              </a:ext>
            </a:extLst>
          </p:cNvPr>
          <p:cNvSpPr>
            <a:spLocks noGrp="1"/>
          </p:cNvSpPr>
          <p:nvPr/>
        </p:nvSpPr>
        <p:spPr>
          <a:xfrm>
            <a:off x="6324600" y="30861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В учебном режиме создаются таблицы и ограничения.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02E48F2-F1B1-4BE6-AEC5-7217B566642C}"/>
              </a:ext>
            </a:extLst>
          </p:cNvPr>
          <p:cNvSpPr>
            <a:spLocks noGrp="1"/>
          </p:cNvSpPr>
          <p:nvPr/>
        </p:nvSpPr>
        <p:spPr>
          <a:xfrm>
            <a:off x="8639175" y="2733675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4203"/>
          </a:bodyPr>
          <a:lstStyle>
            <a:defPPr algn="l"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725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6B6932CD-7A61-4B42-BD24-4E7869B5F08B}"/>
              </a:ext>
            </a:extLst>
          </p:cNvPr>
          <p:cNvSpPr>
            <a:spLocks noGrp="1"/>
          </p:cNvSpPr>
          <p:nvPr/>
        </p:nvSpPr>
        <p:spPr>
          <a:xfrm>
            <a:off x="8858250" y="1952625"/>
            <a:ext cx="2476500" cy="2190750"/>
          </a:xfrm>
          <a:prstGeom prst="roundRect">
            <a:avLst>
              <a:gd name="adj" fmla="val 3478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EE53FB2-85F9-46CA-908A-27D674A32AEF}"/>
              </a:ext>
            </a:extLst>
          </p:cNvPr>
          <p:cNvSpPr>
            <a:spLocks noGrp="1"/>
          </p:cNvSpPr>
          <p:nvPr/>
        </p:nvSpPr>
        <p:spPr>
          <a:xfrm>
            <a:off x="9048750" y="2114550"/>
            <a:ext cx="428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1">
                <a:solidFill>
                  <a:srgbClr val="69B8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B8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26E1721-CA11-4D8F-856C-8B3F6AE668CE}"/>
              </a:ext>
            </a:extLst>
          </p:cNvPr>
          <p:cNvSpPr>
            <a:spLocks noGrp="1"/>
          </p:cNvSpPr>
          <p:nvPr/>
        </p:nvSpPr>
        <p:spPr>
          <a:xfrm>
            <a:off x="9048750" y="255270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BCABCBE-F174-4EF8-B206-ED3C6C46B0FB}"/>
              </a:ext>
            </a:extLst>
          </p:cNvPr>
          <p:cNvSpPr>
            <a:spLocks noGrp="1"/>
          </p:cNvSpPr>
          <p:nvPr/>
        </p:nvSpPr>
        <p:spPr>
          <a:xfrm>
            <a:off x="9048750" y="3086100"/>
            <a:ext cx="2095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Модель и контроллер работают уже с подготовленной структурой.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6F37B3F7-C4AD-41EC-A05F-5C3A2368CDDE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10820400" cy="1200150"/>
          </a:xfrm>
          <a:prstGeom prst="roundRect">
            <a:avLst>
              <a:gd name="adj" fmla="val 6349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27B183D-F8E4-431B-A080-ABEB8076D6A5}"/>
              </a:ext>
            </a:extLst>
          </p:cNvPr>
          <p:cNvSpPr>
            <a:spLocks noGrp="1"/>
          </p:cNvSpPr>
          <p:nvPr/>
        </p:nvSpPr>
        <p:spPr>
          <a:xfrm>
            <a:off x="914400" y="46767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Связь этапов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AAE3453-64DB-4CF9-A678-4BA0FD82EE3F}"/>
              </a:ext>
            </a:extLst>
          </p:cNvPr>
          <p:cNvSpPr>
            <a:spLocks noGrp="1"/>
          </p:cNvSpPr>
          <p:nvPr/>
        </p:nvSpPr>
        <p:spPr>
          <a:xfrm>
            <a:off x="2714625" y="4629150"/>
            <a:ext cx="8477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Laravel записывает выполненные миграции в служебную таблицу. Изменение после применения обычно оформляют новой миграцией, а не правкой уже выполненного файла.</a:t>
            </a:r>
          </a:p>
        </p:txBody>
      </p:sp>
    </p:spTree>
    <p:extLst>
      <p:ext uri="{BB962C8B-B14F-4D97-AF65-F5344CB8AC3E}">
        <p14:creationId xmlns:p14="http://schemas.microsoft.com/office/powerpoint/2010/main" val="1681203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7441E41F-444A-4819-B3F8-38EC230A0F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CD2825-8D08-4A21-88B1-2EC1D8A2263F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1 · СХЕМА ДАННЫХ И МИГРАЦИИ · ДЕМОНСТРАЦИЯ · ПОСЛЕ ТЕОРИИ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0377244-F10A-40F4-BE26-5E2B17877A82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Проверяем результат в Bruno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5B25161-7DBC-45FD-913D-5F7B5C12503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12C70A5-BB2B-4B3B-9E91-AFEF491BC863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CDC3703-DDB7-4983-AAE1-D6BA3CCC4D7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295900" cy="2905125"/>
          </a:xfrm>
          <a:prstGeom prst="roundRect">
            <a:avLst>
              <a:gd name="adj" fmla="val 2623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718942A-6EA1-46A6-B70B-A5FEBA1FFD52}"/>
              </a:ext>
            </a:extLst>
          </p:cNvPr>
          <p:cNvSpPr>
            <a:spLocks noGrp="1"/>
          </p:cNvSpPr>
          <p:nvPr/>
        </p:nvSpPr>
        <p:spPr>
          <a:xfrm>
            <a:off x="895350" y="17145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Запуск миграций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25E9890-EAA7-47DF-A4A4-D5BE2BB8906B}"/>
              </a:ext>
            </a:extLst>
          </p:cNvPr>
          <p:cNvSpPr>
            <a:spLocks noGrp="1"/>
          </p:cNvSpPr>
          <p:nvPr/>
        </p:nvSpPr>
        <p:spPr>
          <a:xfrm>
            <a:off x="895350" y="218122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POST  /api/migrate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4AC2575-ABDF-4356-8AD0-C0C672BBBD28}"/>
              </a:ext>
            </a:extLst>
          </p:cNvPr>
          <p:cNvSpPr>
            <a:spLocks noGrp="1"/>
          </p:cNvSpPr>
          <p:nvPr/>
        </p:nvSpPr>
        <p:spPr>
          <a:xfrm>
            <a:off x="895350" y="2667000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Ожидаемый ответ: 200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5CF697D-033C-47CE-AAD4-D4EFD5D20FB5}"/>
              </a:ext>
            </a:extLst>
          </p:cNvPr>
          <p:cNvSpPr>
            <a:spLocks noGrp="1"/>
          </p:cNvSpPr>
          <p:nvPr/>
        </p:nvSpPr>
        <p:spPr>
          <a:xfrm>
            <a:off x="895350" y="3152775"/>
            <a:ext cx="4857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Тело ответа содержит ok: true и вывод команды migrate. Это означает, что учебный endpoint обработал запуск.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3D8E528-E130-4890-8DDF-3CDC9F837024}"/>
              </a:ext>
            </a:extLst>
          </p:cNvPr>
          <p:cNvSpPr>
            <a:spLocks noGrp="1"/>
          </p:cNvSpPr>
          <p:nvPr/>
        </p:nvSpPr>
        <p:spPr>
          <a:xfrm>
            <a:off x="6210300" y="1524000"/>
            <a:ext cx="5295900" cy="2905125"/>
          </a:xfrm>
          <a:prstGeom prst="roundRect">
            <a:avLst>
              <a:gd name="adj" fmla="val 2623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18D4695-0524-4168-A004-5FE2055FF0C0}"/>
              </a:ext>
            </a:extLst>
          </p:cNvPr>
          <p:cNvSpPr>
            <a:spLocks noGrp="1"/>
          </p:cNvSpPr>
          <p:nvPr/>
        </p:nvSpPr>
        <p:spPr>
          <a:xfrm>
            <a:off x="6419850" y="17145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Чтение заявок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887644F-4700-4192-9EF0-94FAABFFD0AD}"/>
              </a:ext>
            </a:extLst>
          </p:cNvPr>
          <p:cNvSpPr>
            <a:spLocks noGrp="1"/>
          </p:cNvSpPr>
          <p:nvPr/>
        </p:nvSpPr>
        <p:spPr>
          <a:xfrm>
            <a:off x="6419850" y="2181225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buNone/>
              <a:defRPr sz="1650" b="1">
                <a:solidFill>
                  <a:srgbClr val="24364B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24364B"/>
                </a:solidFill>
                <a:latin typeface="Consolas"/>
                <a:ea typeface="Consolas"/>
                <a:cs typeface="Consolas"/>
              </a:rPr>
              <a:t>GET  /api/requests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19368FE-BFCF-450D-9B98-B8D692F82C59}"/>
              </a:ext>
            </a:extLst>
          </p:cNvPr>
          <p:cNvSpPr>
            <a:spLocks noGrp="1"/>
          </p:cNvSpPr>
          <p:nvPr/>
        </p:nvSpPr>
        <p:spPr>
          <a:xfrm>
            <a:off x="6419850" y="2667000"/>
            <a:ext cx="4857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Ожидаемый ответ: 200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13E7252-BEA4-4D5F-9FF8-4C578E23C394}"/>
              </a:ext>
            </a:extLst>
          </p:cNvPr>
          <p:cNvSpPr>
            <a:spLocks noGrp="1"/>
          </p:cNvSpPr>
          <p:nvPr/>
        </p:nvSpPr>
        <p:spPr>
          <a:xfrm>
            <a:off x="6419850" y="3152775"/>
            <a:ext cx="4857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Тело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JSON-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массив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Пустой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массив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допустим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: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важно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,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что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запрос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обработан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, а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структура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и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формат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ответа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соответствуют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ожиданию</a:t>
            </a:r>
            <a:r>
              <a:rPr sz="1350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2103C49-7A8A-4CEE-8255-DF5D1CBE58F6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820400" cy="1095375"/>
          </a:xfrm>
          <a:prstGeom prst="roundRect">
            <a:avLst>
              <a:gd name="adj" fmla="val 6957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A9251D0-5021-4F23-847E-0C7922EC3646}"/>
              </a:ext>
            </a:extLst>
          </p:cNvPr>
          <p:cNvSpPr>
            <a:spLocks noGrp="1"/>
          </p:cNvSpPr>
          <p:nvPr/>
        </p:nvSpPr>
        <p:spPr>
          <a:xfrm>
            <a:off x="895350" y="4829175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Проверка понимания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BBA80C2-6741-4759-B751-FAE292D0E884}"/>
              </a:ext>
            </a:extLst>
          </p:cNvPr>
          <p:cNvSpPr>
            <a:spLocks noGrp="1"/>
          </p:cNvSpPr>
          <p:nvPr/>
        </p:nvSpPr>
        <p:spPr>
          <a:xfrm>
            <a:off x="3381375" y="4800600"/>
            <a:ext cx="7810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Почему одного кода 200 недостаточно? Нужно посмотреть ещё на тело ответа и проверить, что нужные таблицы действительно доступны.</a:t>
            </a:r>
          </a:p>
        </p:txBody>
      </p:sp>
    </p:spTree>
    <p:extLst>
      <p:ext uri="{BB962C8B-B14F-4D97-AF65-F5344CB8AC3E}">
        <p14:creationId xmlns:p14="http://schemas.microsoft.com/office/powerpoint/2010/main" val="1021672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CA3D1091-4891-48BB-987C-30FBD911EE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31950A-3068-4A7D-8D4E-D70D721B121E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1 · СХЕМА ДАННЫХ И МИГРАЦИИ · ОБСУЖДЕНИЕ · ПРОФИЛАКТИКА ОШИБОК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D76BFB0-B314-4342-9787-9E93E8A64BF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Типичные ошибки и безопасность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8DA4B4-9828-47D0-9189-57464F2AB4F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EC339A5-F73B-41CA-8056-5CCD31319E2E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1D1DAC3-26DF-496D-BEC7-15A44DB9B51D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71850" cy="3143250"/>
          </a:xfrm>
          <a:prstGeom prst="roundRect">
            <a:avLst>
              <a:gd name="adj" fmla="val 2424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65D077-EF45-4401-A7F7-1B959B6C2B8B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Миграция уже запускалась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512DE45-43DB-4740-943D-42865801D787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29908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Laravel не выполняет один и тот же файл повторно. Для нового поля создают новую миграцию и снова запускают migrate.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F1BEA54-B5BE-40A3-9738-E85D5F0F738A}"/>
              </a:ext>
            </a:extLst>
          </p:cNvPr>
          <p:cNvSpPr>
            <a:spLocks noGrp="1"/>
          </p:cNvSpPr>
          <p:nvPr/>
        </p:nvSpPr>
        <p:spPr>
          <a:xfrm>
            <a:off x="4286250" y="1581150"/>
            <a:ext cx="3371850" cy="3143250"/>
          </a:xfrm>
          <a:prstGeom prst="roundRect">
            <a:avLst>
              <a:gd name="adj" fmla="val 2424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8F6C70F-33A9-493B-9B01-34E6004A0740}"/>
              </a:ext>
            </a:extLst>
          </p:cNvPr>
          <p:cNvSpPr>
            <a:spLocks noGrp="1"/>
          </p:cNvSpPr>
          <p:nvPr/>
        </p:nvSpPr>
        <p:spPr>
          <a:xfrm>
            <a:off x="4476750" y="173355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Нарушена связь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99DA0DB-50FB-4880-AE17-05AD10C14080}"/>
              </a:ext>
            </a:extLst>
          </p:cNvPr>
          <p:cNvSpPr>
            <a:spLocks noGrp="1"/>
          </p:cNvSpPr>
          <p:nvPr/>
        </p:nvSpPr>
        <p:spPr>
          <a:xfrm>
            <a:off x="4476750" y="2076450"/>
            <a:ext cx="29908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Внешний ключ не даст сослаться на несуществующую запись. Сначала создайте таблицу, на которую ссылается зависимая таблица.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7FB433A-1155-4D3C-BB70-E58FBDFFCD7E}"/>
              </a:ext>
            </a:extLst>
          </p:cNvPr>
          <p:cNvSpPr>
            <a:spLocks noGrp="1"/>
          </p:cNvSpPr>
          <p:nvPr/>
        </p:nvSpPr>
        <p:spPr>
          <a:xfrm>
            <a:off x="7886700" y="1581150"/>
            <a:ext cx="3371850" cy="3143250"/>
          </a:xfrm>
          <a:prstGeom prst="roundRect">
            <a:avLst>
              <a:gd name="adj" fmla="val 2424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8893C10-72C6-4A74-B1A1-5B2E790C3C25}"/>
              </a:ext>
            </a:extLst>
          </p:cNvPr>
          <p:cNvSpPr>
            <a:spLocks noGrp="1"/>
          </p:cNvSpPr>
          <p:nvPr/>
        </p:nvSpPr>
        <p:spPr>
          <a:xfrm>
            <a:off x="8077200" y="173355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1681"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Секреты и разрушительные команды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3E8FBBD-0ED5-44DA-BC7E-C6F8BD0570DE}"/>
              </a:ext>
            </a:extLst>
          </p:cNvPr>
          <p:cNvSpPr>
            <a:spLocks noGrp="1"/>
          </p:cNvSpPr>
          <p:nvPr/>
        </p:nvSpPr>
        <p:spPr>
          <a:xfrm>
            <a:off x="8077200" y="2076450"/>
            <a:ext cx="29908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.env с паролями не включают в Git. Endpoint, запускающий миграции, предназначен для локального учебного режима; его нельзя оставлять открытым в рабочем публичном API.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060C5BD0-1D4F-4142-81D5-7EEE7EA8AB4C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876300"/>
          </a:xfrm>
          <a:prstGeom prst="roundRect">
            <a:avLst>
              <a:gd name="adj" fmla="val 8696"/>
            </a:avLst>
          </a:prstGeom>
          <a:solidFill>
            <a:srgbClr val="F2F5F7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F905E7F-B821-4856-99C0-FA223DC2971A}"/>
              </a:ext>
            </a:extLst>
          </p:cNvPr>
          <p:cNvSpPr>
            <a:spLocks noGrp="1"/>
          </p:cNvSpPr>
          <p:nvPr/>
        </p:nvSpPr>
        <p:spPr>
          <a:xfrm>
            <a:off x="895350" y="5153025"/>
            <a:ext cx="2000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275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Вопрос группе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D6A662D-7662-4A80-9E3A-049C0082D275}"/>
              </a:ext>
            </a:extLst>
          </p:cNvPr>
          <p:cNvSpPr>
            <a:spLocks noGrp="1"/>
          </p:cNvSpPr>
          <p:nvPr/>
        </p:nvSpPr>
        <p:spPr>
          <a:xfrm>
            <a:off x="2762250" y="5095875"/>
            <a:ext cx="8477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Чем миграция отличается от самой таблицы базы данных?</a:t>
            </a:r>
          </a:p>
        </p:txBody>
      </p:sp>
    </p:spTree>
    <p:extLst>
      <p:ext uri="{BB962C8B-B14F-4D97-AF65-F5344CB8AC3E}">
        <p14:creationId xmlns:p14="http://schemas.microsoft.com/office/powerpoint/2010/main" val="40705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011B1DC9-AD59-41EA-8995-A879A9DEEE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0C1C4CA-4486-4814-8F33-7DBF85790DBC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1 · СХЕМА ДАННЫХ И МИГРАЦИИ · ПРАКТИКА · АВТОПРОВЕРКА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0D4E4A-0D62-4D82-82E7-55E9E9C5FFEB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Переход к практике в приложении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6DAAC1E-CEC3-40DA-964E-096255E8B31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D97D4FE-C13F-4AA4-9DEF-706C14A701FF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9A45463-95EB-4E28-A682-7371F5222686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C661993-D9D0-4254-BF2C-41F8856766C8}"/>
              </a:ext>
            </a:extLst>
          </p:cNvPr>
          <p:cNvSpPr>
            <a:spLocks noGrp="1"/>
          </p:cNvSpPr>
          <p:nvPr/>
        </p:nvSpPr>
        <p:spPr>
          <a:xfrm>
            <a:off x="866775" y="1600200"/>
            <a:ext cx="20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BE338D-F922-4A58-AF96-C926D662E044}"/>
              </a:ext>
            </a:extLst>
          </p:cNvPr>
          <p:cNvSpPr>
            <a:spLocks noGrp="1"/>
          </p:cNvSpPr>
          <p:nvPr/>
        </p:nvSpPr>
        <p:spPr>
          <a:xfrm>
            <a:off x="1476375" y="1466850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Инструкция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4CCDA04-84B4-477F-8742-A697DF490623}"/>
              </a:ext>
            </a:extLst>
          </p:cNvPr>
          <p:cNvSpPr>
            <a:spLocks noGrp="1"/>
          </p:cNvSpPr>
          <p:nvPr/>
        </p:nvSpPr>
        <p:spPr>
          <a:xfrm>
            <a:off x="4095750" y="1447800"/>
            <a:ext cx="71247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Откройте занятие 1 и прочитайте требования к таблице оборудования и внешнему ключу.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021B995-0189-49FF-8780-0FFD009945B9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69B8C8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DE63A12-2E34-4E48-9EEB-D405A61F1236}"/>
              </a:ext>
            </a:extLst>
          </p:cNvPr>
          <p:cNvSpPr>
            <a:spLocks noGrp="1"/>
          </p:cNvSpPr>
          <p:nvPr/>
        </p:nvSpPr>
        <p:spPr>
          <a:xfrm>
            <a:off x="866775" y="2600325"/>
            <a:ext cx="20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331831A-F2B6-4CB4-981C-8CEF56EE308E}"/>
              </a:ext>
            </a:extLst>
          </p:cNvPr>
          <p:cNvSpPr>
            <a:spLocks noGrp="1"/>
          </p:cNvSpPr>
          <p:nvPr/>
        </p:nvSpPr>
        <p:spPr>
          <a:xfrm>
            <a:off x="1476375" y="2466975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Задание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FA7D238-3AEF-44B8-8666-829D96114A24}"/>
              </a:ext>
            </a:extLst>
          </p:cNvPr>
          <p:cNvSpPr>
            <a:spLocks noGrp="1"/>
          </p:cNvSpPr>
          <p:nvPr/>
        </p:nvSpPr>
        <p:spPr>
          <a:xfrm>
            <a:off x="4095750" y="2447925"/>
            <a:ext cx="71247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Подготовьте миграции до первого POST Run Migrations.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C62A851-EBAB-4C44-AD62-E4E5058C4D45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5B0AF66-E4B3-423F-9FD1-19F27B5ECBDF}"/>
              </a:ext>
            </a:extLst>
          </p:cNvPr>
          <p:cNvSpPr>
            <a:spLocks noGrp="1"/>
          </p:cNvSpPr>
          <p:nvPr/>
        </p:nvSpPr>
        <p:spPr>
          <a:xfrm>
            <a:off x="866775" y="3600450"/>
            <a:ext cx="20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B47A31F-2219-4BA1-B978-530B8F467BF3}"/>
              </a:ext>
            </a:extLst>
          </p:cNvPr>
          <p:cNvSpPr>
            <a:spLocks noGrp="1"/>
          </p:cNvSpPr>
          <p:nvPr/>
        </p:nvSpPr>
        <p:spPr>
          <a:xfrm>
            <a:off x="1476375" y="3467100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Bruno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ECD359C-9A36-462D-AB7F-9CD3FC48904F}"/>
              </a:ext>
            </a:extLst>
          </p:cNvPr>
          <p:cNvSpPr>
            <a:spLocks noGrp="1"/>
          </p:cNvSpPr>
          <p:nvPr/>
        </p:nvSpPr>
        <p:spPr>
          <a:xfrm>
            <a:off x="4095750" y="3448050"/>
            <a:ext cx="71247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Отправьте POST Run Migrations, затем GET /api/requests и проверьте код и JSON.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B14AC03A-B388-4D99-A2BE-0A194860DCC2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69B8C8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572D4D3-AF3D-4A9D-BB2B-F744C5ADA917}"/>
              </a:ext>
            </a:extLst>
          </p:cNvPr>
          <p:cNvSpPr>
            <a:spLocks noGrp="1"/>
          </p:cNvSpPr>
          <p:nvPr/>
        </p:nvSpPr>
        <p:spPr>
          <a:xfrm>
            <a:off x="866775" y="4600575"/>
            <a:ext cx="209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8583D96-1B79-4C12-9B68-B4279D4C43EB}"/>
              </a:ext>
            </a:extLst>
          </p:cNvPr>
          <p:cNvSpPr>
            <a:spLocks noGrp="1"/>
          </p:cNvSpPr>
          <p:nvPr/>
        </p:nvSpPr>
        <p:spPr>
          <a:xfrm>
            <a:off x="1476375" y="4467225"/>
            <a:ext cx="247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6F93F1D-2E7C-49C9-9555-0AE56038F08A}"/>
              </a:ext>
            </a:extLst>
          </p:cNvPr>
          <p:cNvSpPr>
            <a:spLocks noGrp="1"/>
          </p:cNvSpPr>
          <p:nvPr/>
        </p:nvSpPr>
        <p:spPr>
          <a:xfrm>
            <a:off x="4095750" y="4448175"/>
            <a:ext cx="71247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42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Вернитесь в приложение, нажмите «Проверить» и пройдите тест занятия.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53DCF717-6FAB-42FB-8729-830FA64E7AEB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10820400" cy="428625"/>
          </a:xfrm>
          <a:prstGeom prst="roundRect">
            <a:avLst>
              <a:gd name="adj" fmla="val 17778"/>
            </a:avLst>
          </a:prstGeom>
          <a:solidFill>
            <a:srgbClr val="FFF8E9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BCE2117-A054-4F7F-928A-5529962AB170}"/>
              </a:ext>
            </a:extLst>
          </p:cNvPr>
          <p:cNvSpPr>
            <a:spLocks noGrp="1"/>
          </p:cNvSpPr>
          <p:nvPr/>
        </p:nvSpPr>
        <p:spPr>
          <a:xfrm>
            <a:off x="876300" y="5762625"/>
            <a:ext cx="1038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Практические формулировки и автопроверка находятся в приложении.</a:t>
            </a:r>
          </a:p>
        </p:txBody>
      </p:sp>
    </p:spTree>
    <p:extLst>
      <p:ext uri="{BB962C8B-B14F-4D97-AF65-F5344CB8AC3E}">
        <p14:creationId xmlns:p14="http://schemas.microsoft.com/office/powerpoint/2010/main" val="2108225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3230D5E-8EF7-4BAE-97D3-490AD77B09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1473491-08A5-4B43-9B66-185E87344A2A}"/>
              </a:ext>
            </a:extLst>
          </p:cNvPr>
          <p:cNvSpPr>
            <a:spLocks noGrp="1"/>
          </p:cNvSpPr>
          <p:nvPr/>
        </p:nvSpPr>
        <p:spPr>
          <a:xfrm>
            <a:off x="685800" y="276225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0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ЗАНЯТИЕ 1 · СХЕМА ДАННЫХ И МИГРАЦИИ · ЗАКРЕПЛЕНИЕ · РЕФЛЕКСИЯ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65A423D-BCBC-4B40-87AF-21035E6EC365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625" b="1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Что должно остаться после занятия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50314B1-826A-439A-8021-266D455707E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14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l"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900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МДК.09.01 · REST API на Laravel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2F2B14C-8502-4821-8C3D-BC32454320A1}"/>
              </a:ext>
            </a:extLst>
          </p:cNvPr>
          <p:cNvSpPr>
            <a:spLocks noGrp="1"/>
          </p:cNvSpPr>
          <p:nvPr/>
        </p:nvSpPr>
        <p:spPr>
          <a:xfrm>
            <a:off x="10572750" y="64960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7222"/>
          </a:bodyPr>
          <a:lstStyle>
            <a:defPPr algn="r"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900" b="1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77C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93B7F2A-446B-4EB6-9534-5C3A2DDA61C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50A72A6-ECD3-4D86-9410-75CE8D843DD4}"/>
              </a:ext>
            </a:extLst>
          </p:cNvPr>
          <p:cNvSpPr>
            <a:spLocks noGrp="1"/>
          </p:cNvSpPr>
          <p:nvPr/>
        </p:nvSpPr>
        <p:spPr>
          <a:xfrm>
            <a:off x="1028700" y="1457325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Миграция</a:t>
            </a:r>
            <a:r>
              <a:rPr sz="157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sz="157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версионируемое</a:t>
            </a:r>
            <a:r>
              <a:rPr sz="157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описание</a:t>
            </a:r>
            <a:r>
              <a:rPr sz="157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изменения</a:t>
            </a:r>
            <a:r>
              <a:rPr sz="157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схемы</a:t>
            </a:r>
            <a:r>
              <a:rPr sz="157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базы</a:t>
            </a:r>
            <a:r>
              <a:rPr sz="157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24364B"/>
                </a:solidFill>
                <a:latin typeface="Arial"/>
                <a:ea typeface="Arial"/>
                <a:cs typeface="Arial"/>
              </a:rPr>
              <a:t>данных</a:t>
            </a:r>
            <a:r>
              <a:rPr sz="1575" b="0" dirty="0">
                <a:solidFill>
                  <a:srgbClr val="24364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CEC90DB-2DB3-47FC-B264-1CCF60544475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69B8C8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957568E-C044-479C-902A-4A97E8F0A974}"/>
              </a:ext>
            </a:extLst>
          </p:cNvPr>
          <p:cNvSpPr>
            <a:spLocks noGrp="1"/>
          </p:cNvSpPr>
          <p:nvPr/>
        </p:nvSpPr>
        <p:spPr>
          <a:xfrm>
            <a:off x="1028700" y="2486025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Первичный ключ находит запись; внешний ключ задаёт связь между таблицами.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E09813B-4737-4FCC-8B14-A1D3C0B760CE}"/>
              </a:ext>
            </a:extLst>
          </p:cNvPr>
          <p:cNvSpPr>
            <a:spLocks noGrp="1"/>
          </p:cNvSpPr>
          <p:nvPr/>
        </p:nvSpPr>
        <p:spPr>
          <a:xfrm>
            <a:off x="685800" y="35814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978A8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3BA68C8-1824-4CEE-95BC-D9796A2C51DD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Ответ API оценивают по коду, содержимому и состоянию данных.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45F1175-004A-4D65-A2A3-51355B0DB1E2}"/>
              </a:ext>
            </a:extLst>
          </p:cNvPr>
          <p:cNvSpPr>
            <a:spLocks noGrp="1"/>
          </p:cNvSpPr>
          <p:nvPr/>
        </p:nvSpPr>
        <p:spPr>
          <a:xfrm>
            <a:off x="685800" y="46101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69B8C8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EE58B17-ED71-4873-B420-14FC6451F83A}"/>
              </a:ext>
            </a:extLst>
          </p:cNvPr>
          <p:cNvSpPr>
            <a:spLocks noGrp="1"/>
          </p:cNvSpPr>
          <p:nvPr/>
        </p:nvSpPr>
        <p:spPr>
          <a:xfrm>
            <a:off x="1028700" y="4543425"/>
            <a:ext cx="609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Файлы миграций должны соответствовать тому, что реально создано в базе.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A1CC614-ACBC-4952-B8F1-D176CECECE30}"/>
              </a:ext>
            </a:extLst>
          </p:cNvPr>
          <p:cNvSpPr>
            <a:spLocks noGrp="1"/>
          </p:cNvSpPr>
          <p:nvPr/>
        </p:nvSpPr>
        <p:spPr>
          <a:xfrm>
            <a:off x="7658100" y="1524000"/>
            <a:ext cx="3848100" cy="2133600"/>
          </a:xfrm>
          <a:prstGeom prst="roundRect">
            <a:avLst>
              <a:gd name="adj" fmla="val 3571"/>
            </a:avLst>
          </a:prstGeom>
          <a:solidFill>
            <a:srgbClr val="EAF4F8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A1843DB-FC31-4C24-BC03-FC7AEC92C84A}"/>
              </a:ext>
            </a:extLst>
          </p:cNvPr>
          <p:cNvSpPr>
            <a:spLocks noGrp="1"/>
          </p:cNvSpPr>
          <p:nvPr/>
        </p:nvSpPr>
        <p:spPr>
          <a:xfrm>
            <a:off x="7848600" y="1676400"/>
            <a:ext cx="346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Вопрос на выход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50F8828-E069-448B-A531-ED296068B9CD}"/>
              </a:ext>
            </a:extLst>
          </p:cNvPr>
          <p:cNvSpPr>
            <a:spLocks noGrp="1"/>
          </p:cNvSpPr>
          <p:nvPr/>
        </p:nvSpPr>
        <p:spPr>
          <a:xfrm>
            <a:off x="7848600" y="2019300"/>
            <a:ext cx="34671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Как вы объясните связь requests.equipment_id → equipment.id?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22CACB3-790C-4D24-9526-71C93D148213}"/>
              </a:ext>
            </a:extLst>
          </p:cNvPr>
          <p:cNvSpPr>
            <a:spLocks noGrp="1"/>
          </p:cNvSpPr>
          <p:nvPr/>
        </p:nvSpPr>
        <p:spPr>
          <a:xfrm>
            <a:off x="7658100" y="3905250"/>
            <a:ext cx="3848100" cy="1333500"/>
          </a:xfrm>
          <a:prstGeom prst="roundRect">
            <a:avLst>
              <a:gd name="adj" fmla="val 5714"/>
            </a:avLst>
          </a:prstGeom>
          <a:solidFill>
            <a:srgbClr val="E9F5EF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3387020-4DB3-4F44-8C27-8E79DA1A18DF}"/>
              </a:ext>
            </a:extLst>
          </p:cNvPr>
          <p:cNvSpPr>
            <a:spLocks noGrp="1"/>
          </p:cNvSpPr>
          <p:nvPr/>
        </p:nvSpPr>
        <p:spPr>
          <a:xfrm>
            <a:off x="7848600" y="4057650"/>
            <a:ext cx="346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1">
                <a:solidFill>
                  <a:srgbClr val="3978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8A8"/>
                </a:solidFill>
                <a:latin typeface="Arial"/>
                <a:ea typeface="Arial"/>
                <a:cs typeface="Arial"/>
              </a:rPr>
              <a:t>Переход к следующей теме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B271084-0A7B-48D6-B196-BDA5BBCF304C}"/>
              </a:ext>
            </a:extLst>
          </p:cNvPr>
          <p:cNvSpPr>
            <a:spLocks noGrp="1"/>
          </p:cNvSpPr>
          <p:nvPr/>
        </p:nvSpPr>
        <p:spPr>
          <a:xfrm>
            <a:off x="7848600" y="4400550"/>
            <a:ext cx="34671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>
            <a:defPPr algn="l"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350" b="0">
                <a:solidFill>
                  <a:srgbClr val="2436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4364B"/>
                </a:solidFill>
                <a:latin typeface="Arial"/>
                <a:ea typeface="Arial"/>
                <a:cs typeface="Arial"/>
              </a:rPr>
              <a:t>На занятии 2 структура таблиц будет связана с моделями Eloquent, отношениями и CRUD.</a:t>
            </a:r>
          </a:p>
        </p:txBody>
      </p:sp>
    </p:spTree>
    <p:extLst>
      <p:ext uri="{BB962C8B-B14F-4D97-AF65-F5344CB8AC3E}">
        <p14:creationId xmlns:p14="http://schemas.microsoft.com/office/powerpoint/2010/main" val="16161193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</Words>
  <Application>Microsoft Office PowerPoint</Application>
  <DocSecurity>0</DocSecurity>
  <PresentationFormat>Широкоэкранный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Arial</vt:lpstr>
      <vt:lpstr>Consolas</vt:lpstr>
      <vt:lpstr>Times New Roman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Алёна Александрова</cp:lastModifiedBy>
  <cp:revision>1</cp:revision>
  <dcterms:created xsi:type="dcterms:W3CDTF">2026-10-25T10:42:28Z</dcterms:created>
  <dcterms:modified xsi:type="dcterms:W3CDTF">2026-10-25T10:50:27Z</dcterms:modified>
</cp:coreProperties>
</file>