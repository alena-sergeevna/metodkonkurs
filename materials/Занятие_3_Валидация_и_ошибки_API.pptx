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6" d="100"/>
          <a:sy n="116" d="100"/>
        </p:scale>
        <p:origin x="102" y="5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F6DED632-CF49-4B39-A5D7-F926D2858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1694761D-C899-4C78-AF5D-C60ED9D6D0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A11D34DB-55BB-46A3-9610-DF3F47A68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EC36C58E-275C-4671-9F58-511027A02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B126E808-5B61-4F57-AD58-E87A8EDB55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AEA22A27-E315-4BC6-95C7-836360F40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C71503D1-9CAB-492E-B7EC-A06DD1F8BE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31620977-F4D4-4252-9DF2-B1CD13D61491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69CA013B-4B0C-434E-8B17-2DAF74EA3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DA58D65A-41EE-41A4-AD0F-1D79C91D7C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Прямоугольник: скругленные углы 27">
            <a:extLst>
              <a:ext uri="{FF2B5EF4-FFF2-40B4-BE49-F238E27FC236}">
                <a16:creationId xmlns:a16="http://schemas.microsoft.com/office/drawing/2014/main" id="{5B50DF73-9860-417D-AB8E-DC661651C46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oundRect">
            <a:avLst>
              <a:gd name="adj" fmla="val 50000"/>
            </a:avLst>
          </a:prstGeom>
          <a:solidFill>
            <a:srgbClr val="3978A8"/>
          </a:solidFill>
          <a:ln w="0">
            <a:noFill/>
            <a:prstDash val="solid"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C09CB4B-F9C3-4E8D-93B9-0080CE3D8305}"/>
              </a:ext>
            </a:extLst>
          </p:cNvPr>
          <p:cNvSpPr>
            <a:spLocks noGrp="1"/>
          </p:cNvSpPr>
          <p:nvPr/>
        </p:nvSpPr>
        <p:spPr>
          <a:xfrm>
            <a:off x="685800" y="276225"/>
            <a:ext cx="10820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978A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ЗАНЯТИЕ 3 · ВАЛИДАЦИЯ И ОШИБКИ API · ПЛАН ЗАНЯТИЯ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CF074613-3867-423C-9B55-4755372C54B2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108204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Занятие 3 · Валидация и ошибки API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6767BD0-159D-43D3-9C2C-0E3CE05BDA6E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7143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 fontScale="97222" lnSpcReduction="10000"/>
          </a:bodyPr>
          <a:lstStyle>
            <a:defPPr algn="l"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77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МДК.09.01 · REST API на Laravel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7D9201AA-7996-4886-9D7E-E0F8D52B89CD}"/>
              </a:ext>
            </a:extLst>
          </p:cNvPr>
          <p:cNvSpPr>
            <a:spLocks noGrp="1"/>
          </p:cNvSpPr>
          <p:nvPr/>
        </p:nvSpPr>
        <p:spPr>
          <a:xfrm>
            <a:off x="10572750" y="6496050"/>
            <a:ext cx="95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 fontScale="97222" lnSpcReduction="10000"/>
          </a:bodyPr>
          <a:lstStyle>
            <a:defPPr algn="r"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2677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01 / 11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DEA2C182-9CBC-491C-917D-B111D2C3D5B9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10820400" cy="895350"/>
          </a:xfrm>
          <a:prstGeom prst="roundRect">
            <a:avLst>
              <a:gd name="adj" fmla="val 8511"/>
            </a:avLst>
          </a:prstGeom>
          <a:solidFill>
            <a:srgbClr val="EAF4F8"/>
          </a:solidFill>
          <a:ln w="0">
            <a:noFill/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CBBE112E-D0AA-4E89-80C6-9CA63AA86D96}"/>
              </a:ext>
            </a:extLst>
          </p:cNvPr>
          <p:cNvSpPr>
            <a:spLocks noGrp="1"/>
          </p:cNvSpPr>
          <p:nvPr/>
        </p:nvSpPr>
        <p:spPr>
          <a:xfrm>
            <a:off x="895350" y="152400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978A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Цель занятия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20C8FBC8-6EAE-4788-B418-924A534BF3B7}"/>
              </a:ext>
            </a:extLst>
          </p:cNvPr>
          <p:cNvSpPr>
            <a:spLocks noGrp="1"/>
          </p:cNvSpPr>
          <p:nvPr/>
        </p:nvSpPr>
        <p:spPr>
          <a:xfrm>
            <a:off x="2724150" y="1495425"/>
            <a:ext cx="8524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Объяснить, как Laravel проверяет входные данные до сохранения и как API сообщает клиенту о разных ошибках.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B5DF3527-3C74-4041-9957-477D70490DEE}"/>
              </a:ext>
            </a:extLst>
          </p:cNvPr>
          <p:cNvSpPr>
            <a:spLocks noGrp="1"/>
          </p:cNvSpPr>
          <p:nvPr/>
        </p:nvSpPr>
        <p:spPr>
          <a:xfrm>
            <a:off x="685800" y="2524125"/>
            <a:ext cx="3371850" cy="1238250"/>
          </a:xfrm>
          <a:prstGeom prst="roundRect">
            <a:avLst>
              <a:gd name="adj" fmla="val 6154"/>
            </a:avLst>
          </a:prstGeom>
          <a:solidFill>
            <a:srgbClr val="E9F5EF"/>
          </a:solidFill>
          <a:ln w="0">
            <a:noFill/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8ADD2985-C759-4B75-A254-359280F1F8FC}"/>
              </a:ext>
            </a:extLst>
          </p:cNvPr>
          <p:cNvSpPr>
            <a:spLocks noGrp="1"/>
          </p:cNvSpPr>
          <p:nvPr/>
        </p:nvSpPr>
        <p:spPr>
          <a:xfrm>
            <a:off x="857250" y="2667000"/>
            <a:ext cx="30289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lang="ru-RU" sz="1275" b="1" dirty="0">
                <a:solidFill>
                  <a:srgbClr val="3978A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Этап</a:t>
            </a:r>
            <a:r>
              <a:rPr sz="1275" b="1" dirty="0">
                <a:solidFill>
                  <a:srgbClr val="3978A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· </a:t>
            </a:r>
            <a:r>
              <a:rPr sz="1275" b="1" dirty="0" err="1">
                <a:solidFill>
                  <a:srgbClr val="3978A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мотивация</a:t>
            </a:r>
            <a:endParaRPr sz="1275" b="1" dirty="0">
              <a:solidFill>
                <a:srgbClr val="3978A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347FF218-0EAB-4D16-B717-9139DBEB6B55}"/>
              </a:ext>
            </a:extLst>
          </p:cNvPr>
          <p:cNvSpPr>
            <a:spLocks noGrp="1"/>
          </p:cNvSpPr>
          <p:nvPr/>
        </p:nvSpPr>
        <p:spPr>
          <a:xfrm>
            <a:off x="857250" y="2990850"/>
            <a:ext cx="30289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Что произойдёт, если клиент отправит status=waiting?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E116F138-36E2-4BC8-A5D0-05C0DF5397C7}"/>
              </a:ext>
            </a:extLst>
          </p:cNvPr>
          <p:cNvSpPr>
            <a:spLocks noGrp="1"/>
          </p:cNvSpPr>
          <p:nvPr/>
        </p:nvSpPr>
        <p:spPr>
          <a:xfrm>
            <a:off x="4286250" y="2524125"/>
            <a:ext cx="3371850" cy="1238250"/>
          </a:xfrm>
          <a:prstGeom prst="roundRect">
            <a:avLst>
              <a:gd name="adj" fmla="val 6154"/>
            </a:avLst>
          </a:prstGeom>
          <a:solidFill>
            <a:srgbClr val="FFF8E9"/>
          </a:solidFill>
          <a:ln w="0">
            <a:noFill/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36FFB973-4C4F-4F38-A3CC-D1F90F68064A}"/>
              </a:ext>
            </a:extLst>
          </p:cNvPr>
          <p:cNvSpPr>
            <a:spLocks noGrp="1"/>
          </p:cNvSpPr>
          <p:nvPr/>
        </p:nvSpPr>
        <p:spPr>
          <a:xfrm>
            <a:off x="4457700" y="2667000"/>
            <a:ext cx="30289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lang="ru-RU" sz="1275" b="1" dirty="0">
                <a:solidFill>
                  <a:srgbClr val="3978A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Этап</a:t>
            </a:r>
            <a:r>
              <a:rPr sz="1275" b="1" dirty="0">
                <a:solidFill>
                  <a:srgbClr val="3978A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· </a:t>
            </a:r>
            <a:r>
              <a:rPr sz="1275" b="1" dirty="0" err="1">
                <a:solidFill>
                  <a:srgbClr val="3978A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актуализация</a:t>
            </a:r>
            <a:endParaRPr sz="1275" b="1" dirty="0">
              <a:solidFill>
                <a:srgbClr val="3978A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2AF5652A-F59D-4AC6-A7FA-DDD93D499377}"/>
              </a:ext>
            </a:extLst>
          </p:cNvPr>
          <p:cNvSpPr>
            <a:spLocks noGrp="1"/>
          </p:cNvSpPr>
          <p:nvPr/>
        </p:nvSpPr>
        <p:spPr>
          <a:xfrm>
            <a:off x="4457700" y="2990850"/>
            <a:ext cx="30289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Повторить модель, контроллер и текущую проверку запроса.</a:t>
            </a: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399FC70-F6CF-4370-ACAE-C42093C326D9}"/>
              </a:ext>
            </a:extLst>
          </p:cNvPr>
          <p:cNvSpPr>
            <a:spLocks noGrp="1"/>
          </p:cNvSpPr>
          <p:nvPr/>
        </p:nvSpPr>
        <p:spPr>
          <a:xfrm>
            <a:off x="7886700" y="2524125"/>
            <a:ext cx="3371850" cy="1238250"/>
          </a:xfrm>
          <a:prstGeom prst="roundRect">
            <a:avLst>
              <a:gd name="adj" fmla="val 6154"/>
            </a:avLst>
          </a:prstGeom>
          <a:solidFill>
            <a:srgbClr val="EAF4F8"/>
          </a:solidFill>
          <a:ln w="0">
            <a:noFill/>
            <a:prstDash val="solid"/>
          </a:ln>
        </p:spPr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EA95AA78-FE58-40C2-9D60-44281515E7C8}"/>
              </a:ext>
            </a:extLst>
          </p:cNvPr>
          <p:cNvSpPr>
            <a:spLocks noGrp="1"/>
          </p:cNvSpPr>
          <p:nvPr/>
        </p:nvSpPr>
        <p:spPr>
          <a:xfrm>
            <a:off x="8058150" y="2667000"/>
            <a:ext cx="30289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lang="ru-RU" sz="1275" b="1" dirty="0">
                <a:solidFill>
                  <a:srgbClr val="3978A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Этап</a:t>
            </a:r>
            <a:r>
              <a:rPr sz="1275" b="1" dirty="0">
                <a:solidFill>
                  <a:srgbClr val="3978A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· </a:t>
            </a:r>
            <a:r>
              <a:rPr sz="1275" b="1" dirty="0" err="1">
                <a:solidFill>
                  <a:srgbClr val="3978A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объяснение</a:t>
            </a:r>
            <a:endParaRPr sz="1275" b="1" dirty="0">
              <a:solidFill>
                <a:srgbClr val="3978A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8F674AC5-8053-4A11-B32B-5975B772F01D}"/>
              </a:ext>
            </a:extLst>
          </p:cNvPr>
          <p:cNvSpPr>
            <a:spLocks noGrp="1"/>
          </p:cNvSpPr>
          <p:nvPr/>
        </p:nvSpPr>
        <p:spPr>
          <a:xfrm>
            <a:off x="8058150" y="2990850"/>
            <a:ext cx="30289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Валидация, авторизация и Form Request.</a:t>
            </a:r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E3EACC70-C316-4A8A-90C7-CB2253A46DCA}"/>
              </a:ext>
            </a:extLst>
          </p:cNvPr>
          <p:cNvSpPr>
            <a:spLocks noGrp="1"/>
          </p:cNvSpPr>
          <p:nvPr/>
        </p:nvSpPr>
        <p:spPr>
          <a:xfrm>
            <a:off x="685800" y="4019550"/>
            <a:ext cx="3371850" cy="1238250"/>
          </a:xfrm>
          <a:prstGeom prst="roundRect">
            <a:avLst>
              <a:gd name="adj" fmla="val 6154"/>
            </a:avLst>
          </a:prstGeom>
          <a:solidFill>
            <a:srgbClr val="FFF8E9"/>
          </a:solidFill>
          <a:ln w="0">
            <a:noFill/>
            <a:prstDash val="solid"/>
          </a:ln>
        </p:spPr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910F37E0-0FAF-4A20-B515-C6B0CFE905A6}"/>
              </a:ext>
            </a:extLst>
          </p:cNvPr>
          <p:cNvSpPr>
            <a:spLocks noGrp="1"/>
          </p:cNvSpPr>
          <p:nvPr/>
        </p:nvSpPr>
        <p:spPr>
          <a:xfrm>
            <a:off x="857250" y="4162425"/>
            <a:ext cx="30289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lang="ru-RU" sz="1275" b="1" dirty="0">
                <a:solidFill>
                  <a:srgbClr val="3978A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Этап</a:t>
            </a:r>
            <a:r>
              <a:rPr sz="1275" b="1" dirty="0">
                <a:solidFill>
                  <a:srgbClr val="3978A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· </a:t>
            </a:r>
            <a:r>
              <a:rPr sz="1275" b="1" dirty="0" err="1">
                <a:solidFill>
                  <a:srgbClr val="3978A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код</a:t>
            </a:r>
            <a:endParaRPr sz="1275" b="1" dirty="0">
              <a:solidFill>
                <a:srgbClr val="3978A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7AC874DF-DA99-4680-A3E8-315BC9B89F15}"/>
              </a:ext>
            </a:extLst>
          </p:cNvPr>
          <p:cNvSpPr>
            <a:spLocks noGrp="1"/>
          </p:cNvSpPr>
          <p:nvPr/>
        </p:nvSpPr>
        <p:spPr>
          <a:xfrm>
            <a:off x="857250" y="4486275"/>
            <a:ext cx="30289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Правила создания и частичного обновления.</a:t>
            </a:r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745CA07A-69AA-4946-9FDA-F18D72985502}"/>
              </a:ext>
            </a:extLst>
          </p:cNvPr>
          <p:cNvSpPr>
            <a:spLocks noGrp="1"/>
          </p:cNvSpPr>
          <p:nvPr/>
        </p:nvSpPr>
        <p:spPr>
          <a:xfrm>
            <a:off x="4286250" y="4019550"/>
            <a:ext cx="3371850" cy="1238250"/>
          </a:xfrm>
          <a:prstGeom prst="roundRect">
            <a:avLst>
              <a:gd name="adj" fmla="val 6154"/>
            </a:avLst>
          </a:prstGeom>
          <a:solidFill>
            <a:srgbClr val="EAF4F8"/>
          </a:solidFill>
          <a:ln w="0">
            <a:noFill/>
            <a:prstDash val="solid"/>
          </a:ln>
        </p:spPr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B7CFD732-998B-4530-9765-EA761C0E7EC8}"/>
              </a:ext>
            </a:extLst>
          </p:cNvPr>
          <p:cNvSpPr>
            <a:spLocks noGrp="1"/>
          </p:cNvSpPr>
          <p:nvPr/>
        </p:nvSpPr>
        <p:spPr>
          <a:xfrm>
            <a:off x="4457700" y="4162425"/>
            <a:ext cx="30289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lang="ru-RU" sz="1275" b="1" dirty="0">
                <a:solidFill>
                  <a:srgbClr val="3978A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Этап</a:t>
            </a:r>
            <a:r>
              <a:rPr sz="1275" b="1" dirty="0">
                <a:solidFill>
                  <a:srgbClr val="3978A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· Bruno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1C5C6A84-F2E9-4A70-9B5C-86BDFB249CF8}"/>
              </a:ext>
            </a:extLst>
          </p:cNvPr>
          <p:cNvSpPr>
            <a:spLocks noGrp="1"/>
          </p:cNvSpPr>
          <p:nvPr/>
        </p:nvSpPr>
        <p:spPr>
          <a:xfrm>
            <a:off x="4457700" y="4486275"/>
            <a:ext cx="30289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Проверить негативные сценарии 422 и 404.</a:t>
            </a:r>
          </a:p>
        </p:txBody>
      </p:sp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9FA99B76-A793-427B-AA82-19EFED1E2CE4}"/>
              </a:ext>
            </a:extLst>
          </p:cNvPr>
          <p:cNvSpPr>
            <a:spLocks noGrp="1"/>
          </p:cNvSpPr>
          <p:nvPr/>
        </p:nvSpPr>
        <p:spPr>
          <a:xfrm>
            <a:off x="7886700" y="4019550"/>
            <a:ext cx="3371850" cy="1238250"/>
          </a:xfrm>
          <a:prstGeom prst="roundRect">
            <a:avLst>
              <a:gd name="adj" fmla="val 6154"/>
            </a:avLst>
          </a:prstGeom>
          <a:solidFill>
            <a:srgbClr val="E9F5EF"/>
          </a:solidFill>
          <a:ln w="0">
            <a:noFill/>
            <a:prstDash val="solid"/>
          </a:ln>
        </p:spPr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A7356244-E00B-4846-8B6E-EDFA2FCFB42B}"/>
              </a:ext>
            </a:extLst>
          </p:cNvPr>
          <p:cNvSpPr>
            <a:spLocks noGrp="1"/>
          </p:cNvSpPr>
          <p:nvPr/>
        </p:nvSpPr>
        <p:spPr>
          <a:xfrm>
            <a:off x="8058150" y="4162425"/>
            <a:ext cx="30289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lang="ru-RU" sz="1275" b="1" dirty="0">
                <a:solidFill>
                  <a:srgbClr val="3978A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Этап</a:t>
            </a:r>
            <a:r>
              <a:rPr sz="1275" b="1" dirty="0">
                <a:solidFill>
                  <a:srgbClr val="3978A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· </a:t>
            </a:r>
            <a:r>
              <a:rPr sz="1275" b="1" dirty="0" err="1">
                <a:solidFill>
                  <a:srgbClr val="3978A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практика</a:t>
            </a:r>
            <a:r>
              <a:rPr sz="1275" b="1" dirty="0">
                <a:solidFill>
                  <a:srgbClr val="3978A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и </a:t>
            </a:r>
            <a:r>
              <a:rPr sz="1275" b="1" dirty="0" err="1">
                <a:solidFill>
                  <a:srgbClr val="3978A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итог</a:t>
            </a:r>
            <a:endParaRPr sz="1275" b="1" dirty="0">
              <a:solidFill>
                <a:srgbClr val="3978A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87E8D165-21C4-43FC-A222-9D526AFB3E46}"/>
              </a:ext>
            </a:extLst>
          </p:cNvPr>
          <p:cNvSpPr>
            <a:spLocks noGrp="1"/>
          </p:cNvSpPr>
          <p:nvPr/>
        </p:nvSpPr>
        <p:spPr>
          <a:xfrm>
            <a:off x="8058150" y="4486275"/>
            <a:ext cx="30289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Проверка состояния данных, тест и рефлексия.</a:t>
            </a:r>
          </a:p>
        </p:txBody>
      </p:sp>
    </p:spTree>
    <p:extLst>
      <p:ext uri="{BB962C8B-B14F-4D97-AF65-F5344CB8AC3E}">
        <p14:creationId xmlns:p14="http://schemas.microsoft.com/office/powerpoint/2010/main" val="7461226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23C640C3-AB4B-4694-8AD2-FC469AA97D8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oundRect">
            <a:avLst>
              <a:gd name="adj" fmla="val 50000"/>
            </a:avLst>
          </a:prstGeom>
          <a:solidFill>
            <a:srgbClr val="3978A8"/>
          </a:solidFill>
          <a:ln w="0">
            <a:noFill/>
            <a:prstDash val="solid"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10BD16C-7CED-4834-8595-D919033B2BC4}"/>
              </a:ext>
            </a:extLst>
          </p:cNvPr>
          <p:cNvSpPr>
            <a:spLocks noGrp="1"/>
          </p:cNvSpPr>
          <p:nvPr/>
        </p:nvSpPr>
        <p:spPr>
          <a:xfrm>
            <a:off x="685800" y="276225"/>
            <a:ext cx="10820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978A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ЗАНЯТИЕ 3 · ВАЛИДАЦИЯ И ОШИБКИ API · МОТИВАЦИЯ · АКТУАЛИЗАЦИЯ · ЦЕЛЬ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1AC1057-B71A-475C-B01F-0D939D8D4F57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108204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Запрос нельзя считать корректным заранее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8F1AD2D-21E2-49F1-8ED1-6DF197C27598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7143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 fontScale="97222" lnSpcReduction="10000"/>
          </a:bodyPr>
          <a:lstStyle>
            <a:defPPr algn="l"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77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МДК.09.01 · REST API на Laravel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7A5BA235-64CE-44A1-8714-9BA9EBDCAB92}"/>
              </a:ext>
            </a:extLst>
          </p:cNvPr>
          <p:cNvSpPr>
            <a:spLocks noGrp="1"/>
          </p:cNvSpPr>
          <p:nvPr/>
        </p:nvSpPr>
        <p:spPr>
          <a:xfrm>
            <a:off x="10572750" y="6496050"/>
            <a:ext cx="95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 fontScale="97222" lnSpcReduction="10000"/>
          </a:bodyPr>
          <a:lstStyle>
            <a:defPPr algn="r"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2677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02 / 11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58C38D88-2627-412B-AF74-19C5DE1B17CB}"/>
              </a:ext>
            </a:extLst>
          </p:cNvPr>
          <p:cNvSpPr>
            <a:spLocks noGrp="1"/>
          </p:cNvSpPr>
          <p:nvPr/>
        </p:nvSpPr>
        <p:spPr>
          <a:xfrm>
            <a:off x="685800" y="1504950"/>
            <a:ext cx="5143500" cy="2571750"/>
          </a:xfrm>
          <a:prstGeom prst="roundRect">
            <a:avLst>
              <a:gd name="adj" fmla="val 2963"/>
            </a:avLst>
          </a:prstGeom>
          <a:solidFill>
            <a:srgbClr val="FFF8E9"/>
          </a:solidFill>
          <a:ln w="0">
            <a:noFill/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766DEAEF-D8F4-4253-B716-F03F5F828C11}"/>
              </a:ext>
            </a:extLst>
          </p:cNvPr>
          <p:cNvSpPr>
            <a:spLocks noGrp="1"/>
          </p:cNvSpPr>
          <p:nvPr/>
        </p:nvSpPr>
        <p:spPr>
          <a:xfrm>
            <a:off x="876300" y="165735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978A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Ситуация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C988FC40-3A8D-4267-ADE6-337451629D80}"/>
              </a:ext>
            </a:extLst>
          </p:cNvPr>
          <p:cNvSpPr>
            <a:spLocks noGrp="1"/>
          </p:cNvSpPr>
          <p:nvPr/>
        </p:nvSpPr>
        <p:spPr>
          <a:xfrm>
            <a:off x="876300" y="2000250"/>
            <a:ext cx="4762500" cy="1962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Клиент отправляет пустой title или статус waiting. Интерфейс мог скрыть эти варианты, но Bruno позволяет изменить JSON вручную. Должен ли сервер сохранить запрос?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CD102637-F9B9-4244-A175-977821B31204}"/>
              </a:ext>
            </a:extLst>
          </p:cNvPr>
          <p:cNvSpPr>
            <a:spLocks noGrp="1"/>
          </p:cNvSpPr>
          <p:nvPr/>
        </p:nvSpPr>
        <p:spPr>
          <a:xfrm>
            <a:off x="6076950" y="1504950"/>
            <a:ext cx="5429250" cy="1257300"/>
          </a:xfrm>
          <a:prstGeom prst="roundRect">
            <a:avLst>
              <a:gd name="adj" fmla="val 6061"/>
            </a:avLst>
          </a:prstGeom>
          <a:solidFill>
            <a:srgbClr val="EAF4F8"/>
          </a:solidFill>
          <a:ln w="0">
            <a:noFill/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59DEBF92-88DB-4792-91F2-BCEC202D1F5D}"/>
              </a:ext>
            </a:extLst>
          </p:cNvPr>
          <p:cNvSpPr>
            <a:spLocks noGrp="1"/>
          </p:cNvSpPr>
          <p:nvPr/>
        </p:nvSpPr>
        <p:spPr>
          <a:xfrm>
            <a:off x="6267450" y="1657350"/>
            <a:ext cx="504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978A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Вопрос группе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F53FB15-1A75-4B7B-B0D5-E8D2A1ACC218}"/>
              </a:ext>
            </a:extLst>
          </p:cNvPr>
          <p:cNvSpPr>
            <a:spLocks noGrp="1"/>
          </p:cNvSpPr>
          <p:nvPr/>
        </p:nvSpPr>
        <p:spPr>
          <a:xfrm>
            <a:off x="6267450" y="2000250"/>
            <a:ext cx="50482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500" b="0" dirty="0" err="1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На</a:t>
            </a:r>
            <a:r>
              <a:rPr sz="1500" b="0" dirty="0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00" b="0" dirty="0" err="1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каком</a:t>
            </a:r>
            <a:r>
              <a:rPr sz="1500" b="0" dirty="0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00" b="0" dirty="0" err="1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этапе</a:t>
            </a:r>
            <a:r>
              <a:rPr sz="1500" b="0" dirty="0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00" b="0" dirty="0" err="1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следует</a:t>
            </a:r>
            <a:r>
              <a:rPr sz="1500" b="0" dirty="0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00" b="0" dirty="0" err="1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остановить</a:t>
            </a:r>
            <a:r>
              <a:rPr sz="1500" b="0" dirty="0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00" b="0" dirty="0" err="1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некорректные</a:t>
            </a:r>
            <a:r>
              <a:rPr sz="1500" b="0" dirty="0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00" b="0" dirty="0" err="1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данные</a:t>
            </a:r>
            <a:r>
              <a:rPr sz="1500" b="0" dirty="0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–</a:t>
            </a:r>
            <a:r>
              <a:rPr sz="1500" b="0" dirty="0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00" b="0" dirty="0" err="1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до</a:t>
            </a:r>
            <a:r>
              <a:rPr sz="1500" b="0" dirty="0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00" b="0" dirty="0" err="1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или</a:t>
            </a:r>
            <a:r>
              <a:rPr sz="1500" b="0" dirty="0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00" b="0" dirty="0" err="1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после</a:t>
            </a:r>
            <a:r>
              <a:rPr sz="1500" b="0" dirty="0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00" b="0" dirty="0" err="1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сохранения</a:t>
            </a:r>
            <a:r>
              <a:rPr sz="1500" b="0" dirty="0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0056D184-878C-4A5B-9814-E599EC1085ED}"/>
              </a:ext>
            </a:extLst>
          </p:cNvPr>
          <p:cNvSpPr>
            <a:spLocks noGrp="1"/>
          </p:cNvSpPr>
          <p:nvPr/>
        </p:nvSpPr>
        <p:spPr>
          <a:xfrm>
            <a:off x="6076950" y="2952750"/>
            <a:ext cx="5429250" cy="1123950"/>
          </a:xfrm>
          <a:prstGeom prst="roundRect">
            <a:avLst>
              <a:gd name="adj" fmla="val 6780"/>
            </a:avLst>
          </a:prstGeom>
          <a:solidFill>
            <a:srgbClr val="E9F5EF"/>
          </a:solidFill>
          <a:ln w="0">
            <a:noFill/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75D02B8E-49BE-4A9A-BBF6-08EC1FB7EEDA}"/>
              </a:ext>
            </a:extLst>
          </p:cNvPr>
          <p:cNvSpPr>
            <a:spLocks noGrp="1"/>
          </p:cNvSpPr>
          <p:nvPr/>
        </p:nvSpPr>
        <p:spPr>
          <a:xfrm>
            <a:off x="6267450" y="3105150"/>
            <a:ext cx="504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978A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Цель этапа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C96D7A92-77E7-4A51-9B2F-C32564DD8A5D}"/>
              </a:ext>
            </a:extLst>
          </p:cNvPr>
          <p:cNvSpPr>
            <a:spLocks noGrp="1"/>
          </p:cNvSpPr>
          <p:nvPr/>
        </p:nvSpPr>
        <p:spPr>
          <a:xfrm>
            <a:off x="6267450" y="3448050"/>
            <a:ext cx="5048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Разместить правила проверки в Form Request и читать ошибки API по статусу и телу ответа.</a:t>
            </a: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80512662-5184-4558-9D94-C281AD9FCCE0}"/>
              </a:ext>
            </a:extLst>
          </p:cNvPr>
          <p:cNvSpPr>
            <a:spLocks noGrp="1"/>
          </p:cNvSpPr>
          <p:nvPr/>
        </p:nvSpPr>
        <p:spPr>
          <a:xfrm>
            <a:off x="685800" y="4333875"/>
            <a:ext cx="10820400" cy="1428750"/>
          </a:xfrm>
          <a:prstGeom prst="roundRect">
            <a:avLst>
              <a:gd name="adj" fmla="val 5333"/>
            </a:avLst>
          </a:prstGeom>
          <a:solidFill>
            <a:srgbClr val="F2F5F7"/>
          </a:solidFill>
          <a:ln w="0">
            <a:noFill/>
            <a:prstDash val="solid"/>
          </a:ln>
        </p:spPr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2DCF08D7-8D44-4E28-914F-ED557021BECB}"/>
              </a:ext>
            </a:extLst>
          </p:cNvPr>
          <p:cNvSpPr>
            <a:spLocks noGrp="1"/>
          </p:cNvSpPr>
          <p:nvPr/>
        </p:nvSpPr>
        <p:spPr>
          <a:xfrm>
            <a:off x="876300" y="4486275"/>
            <a:ext cx="10439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978A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Ключевой переход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8BB3A50F-0080-4035-A890-FD2796C2FC09}"/>
              </a:ext>
            </a:extLst>
          </p:cNvPr>
          <p:cNvSpPr>
            <a:spLocks noGrp="1"/>
          </p:cNvSpPr>
          <p:nvPr/>
        </p:nvSpPr>
        <p:spPr>
          <a:xfrm>
            <a:off x="876300" y="4829175"/>
            <a:ext cx="104394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От наблюдаемого поведения API перейти к объяснению устройства: какие данные нужны, какой компонент их обрабатывает и где проверить результат?</a:t>
            </a:r>
          </a:p>
        </p:txBody>
      </p:sp>
    </p:spTree>
    <p:extLst>
      <p:ext uri="{BB962C8B-B14F-4D97-AF65-F5344CB8AC3E}">
        <p14:creationId xmlns:p14="http://schemas.microsoft.com/office/powerpoint/2010/main" val="3402357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D213E60C-D0FD-43C6-86B4-BBC203ABC90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oundRect">
            <a:avLst>
              <a:gd name="adj" fmla="val 50000"/>
            </a:avLst>
          </a:prstGeom>
          <a:solidFill>
            <a:srgbClr val="3978A8"/>
          </a:solidFill>
          <a:ln w="0">
            <a:noFill/>
            <a:prstDash val="solid"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6EED2F38-627C-492D-9BEC-E2F081930736}"/>
              </a:ext>
            </a:extLst>
          </p:cNvPr>
          <p:cNvSpPr>
            <a:spLocks noGrp="1"/>
          </p:cNvSpPr>
          <p:nvPr/>
        </p:nvSpPr>
        <p:spPr>
          <a:xfrm>
            <a:off x="685800" y="276225"/>
            <a:ext cx="10820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978A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ЗАНЯТИЕ 3 · ВАЛИДАЦИЯ И ОШИБКИ API · ОБЪЯСНЕНИЕ ПОНЯТИЙ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8EAD2484-3215-410C-9918-C4A6FEB7EBC8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108204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Термины: проверка и доступ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7EA9D47-B34C-4C43-A977-5EB44534AE3A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7143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 fontScale="97222" lnSpcReduction="10000"/>
          </a:bodyPr>
          <a:lstStyle>
            <a:defPPr algn="l"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77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МДК.09.01 · REST API на Laravel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A0ECD7C-87C9-485C-B281-444DBC794D90}"/>
              </a:ext>
            </a:extLst>
          </p:cNvPr>
          <p:cNvSpPr>
            <a:spLocks noGrp="1"/>
          </p:cNvSpPr>
          <p:nvPr/>
        </p:nvSpPr>
        <p:spPr>
          <a:xfrm>
            <a:off x="10572750" y="6496050"/>
            <a:ext cx="95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 fontScale="97222" lnSpcReduction="10000"/>
          </a:bodyPr>
          <a:lstStyle>
            <a:defPPr algn="r"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2677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03 / 11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2CCF09EA-4196-451B-A7A3-3BD756900CF3}"/>
              </a:ext>
            </a:extLst>
          </p:cNvPr>
          <p:cNvSpPr>
            <a:spLocks noGrp="1"/>
          </p:cNvSpPr>
          <p:nvPr/>
        </p:nvSpPr>
        <p:spPr>
          <a:xfrm>
            <a:off x="685800" y="1476375"/>
            <a:ext cx="5295900" cy="1828800"/>
          </a:xfrm>
          <a:prstGeom prst="roundRect">
            <a:avLst>
              <a:gd name="adj" fmla="val 4167"/>
            </a:avLst>
          </a:prstGeom>
          <a:solidFill>
            <a:srgbClr val="EAF4F8"/>
          </a:solidFill>
          <a:ln w="0">
            <a:noFill/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3E60ADE8-92A9-4EF2-A149-0189C22015A0}"/>
              </a:ext>
            </a:extLst>
          </p:cNvPr>
          <p:cNvSpPr>
            <a:spLocks noGrp="1"/>
          </p:cNvSpPr>
          <p:nvPr/>
        </p:nvSpPr>
        <p:spPr>
          <a:xfrm>
            <a:off x="876300" y="1628775"/>
            <a:ext cx="4914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978A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Валидация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033A76DB-ED92-4E7D-8A6F-2DFF39BF3318}"/>
              </a:ext>
            </a:extLst>
          </p:cNvPr>
          <p:cNvSpPr>
            <a:spLocks noGrp="1"/>
          </p:cNvSpPr>
          <p:nvPr/>
        </p:nvSpPr>
        <p:spPr>
          <a:xfrm>
            <a:off x="876300" y="1971675"/>
            <a:ext cx="4914900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Проверяет форму и значения входных данных: тип, обязательность, длину, допустимый набор или существование связанной записи.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E925F8A9-033F-4524-8371-6604FE840357}"/>
              </a:ext>
            </a:extLst>
          </p:cNvPr>
          <p:cNvSpPr>
            <a:spLocks noGrp="1"/>
          </p:cNvSpPr>
          <p:nvPr/>
        </p:nvSpPr>
        <p:spPr>
          <a:xfrm>
            <a:off x="6210300" y="1476375"/>
            <a:ext cx="5295900" cy="1828800"/>
          </a:xfrm>
          <a:prstGeom prst="roundRect">
            <a:avLst>
              <a:gd name="adj" fmla="val 4167"/>
            </a:avLst>
          </a:prstGeom>
          <a:solidFill>
            <a:srgbClr val="E9F5EF"/>
          </a:solidFill>
          <a:ln w="0">
            <a:noFill/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DE3D2A1D-65AF-4AE6-8BF4-EC2DAAB05707}"/>
              </a:ext>
            </a:extLst>
          </p:cNvPr>
          <p:cNvSpPr>
            <a:spLocks noGrp="1"/>
          </p:cNvSpPr>
          <p:nvPr/>
        </p:nvSpPr>
        <p:spPr>
          <a:xfrm>
            <a:off x="6400800" y="1628775"/>
            <a:ext cx="4914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978A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Авторизация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89500AE7-1AD2-48D4-8E44-56FA633A962A}"/>
              </a:ext>
            </a:extLst>
          </p:cNvPr>
          <p:cNvSpPr>
            <a:spLocks noGrp="1"/>
          </p:cNvSpPr>
          <p:nvPr/>
        </p:nvSpPr>
        <p:spPr>
          <a:xfrm>
            <a:off x="6400800" y="1971675"/>
            <a:ext cx="4914900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Проверяет, разрешено ли пользователю выполнить действие. Корректные данные ещё не означают, что пользователь имеет доступ.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99C1849A-125C-4AEB-B431-DE67628EFCC2}"/>
              </a:ext>
            </a:extLst>
          </p:cNvPr>
          <p:cNvSpPr>
            <a:spLocks noGrp="1"/>
          </p:cNvSpPr>
          <p:nvPr/>
        </p:nvSpPr>
        <p:spPr>
          <a:xfrm>
            <a:off x="685800" y="3571875"/>
            <a:ext cx="5295900" cy="1828800"/>
          </a:xfrm>
          <a:prstGeom prst="roundRect">
            <a:avLst>
              <a:gd name="adj" fmla="val 4167"/>
            </a:avLst>
          </a:prstGeom>
          <a:solidFill>
            <a:srgbClr val="FFF8E9"/>
          </a:solidFill>
          <a:ln w="0">
            <a:noFill/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7DCA5E3A-AAD0-4529-877F-DD7D61E193B4}"/>
              </a:ext>
            </a:extLst>
          </p:cNvPr>
          <p:cNvSpPr>
            <a:spLocks noGrp="1"/>
          </p:cNvSpPr>
          <p:nvPr/>
        </p:nvSpPr>
        <p:spPr>
          <a:xfrm>
            <a:off x="876300" y="3724275"/>
            <a:ext cx="4914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978A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Form Request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C03628E3-5BC6-4572-957E-0901DAB77F64}"/>
              </a:ext>
            </a:extLst>
          </p:cNvPr>
          <p:cNvSpPr>
            <a:spLocks noGrp="1"/>
          </p:cNvSpPr>
          <p:nvPr/>
        </p:nvSpPr>
        <p:spPr>
          <a:xfrm>
            <a:off x="876300" y="4067175"/>
            <a:ext cx="4914900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Класс Laravel для авторизации запроса и правил валидации. В проекте классы расположены в app/Http/Requests.</a:t>
            </a: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32111504-32C3-4A5E-9A6B-2CE23D44CB77}"/>
              </a:ext>
            </a:extLst>
          </p:cNvPr>
          <p:cNvSpPr>
            <a:spLocks noGrp="1"/>
          </p:cNvSpPr>
          <p:nvPr/>
        </p:nvSpPr>
        <p:spPr>
          <a:xfrm>
            <a:off x="6210300" y="3571875"/>
            <a:ext cx="5295900" cy="1828800"/>
          </a:xfrm>
          <a:prstGeom prst="roundRect">
            <a:avLst>
              <a:gd name="adj" fmla="val 4167"/>
            </a:avLst>
          </a:prstGeom>
          <a:solidFill>
            <a:srgbClr val="EAF4F8"/>
          </a:solidFill>
          <a:ln w="0">
            <a:noFill/>
            <a:prstDash val="solid"/>
          </a:ln>
        </p:spPr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3E17B064-8F3B-468B-BEE4-4892B1295FAA}"/>
              </a:ext>
            </a:extLst>
          </p:cNvPr>
          <p:cNvSpPr>
            <a:spLocks noGrp="1"/>
          </p:cNvSpPr>
          <p:nvPr/>
        </p:nvSpPr>
        <p:spPr>
          <a:xfrm>
            <a:off x="6400800" y="3724275"/>
            <a:ext cx="4914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978A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422 / 404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98AE9154-69C8-457D-BEC2-28ECDE42FD70}"/>
              </a:ext>
            </a:extLst>
          </p:cNvPr>
          <p:cNvSpPr>
            <a:spLocks noGrp="1"/>
          </p:cNvSpPr>
          <p:nvPr/>
        </p:nvSpPr>
        <p:spPr>
          <a:xfrm>
            <a:off x="6400800" y="4067175"/>
            <a:ext cx="4914900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425" b="0" dirty="0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422 </a:t>
            </a:r>
            <a:r>
              <a:rPr lang="ru-RU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–</a:t>
            </a:r>
            <a:r>
              <a:rPr sz="1425" b="0" dirty="0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25" b="0" dirty="0" err="1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запрос</a:t>
            </a:r>
            <a:r>
              <a:rPr sz="1425" b="0" dirty="0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25" b="0" dirty="0" err="1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понятен</a:t>
            </a:r>
            <a:r>
              <a:rPr sz="1425" b="0" dirty="0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sz="1425" b="0" dirty="0" err="1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но</a:t>
            </a:r>
            <a:r>
              <a:rPr sz="1425" b="0" dirty="0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25" b="0" dirty="0" err="1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поля</a:t>
            </a:r>
            <a:r>
              <a:rPr sz="1425" b="0" dirty="0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25" b="0" dirty="0" err="1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не</a:t>
            </a:r>
            <a:r>
              <a:rPr sz="1425" b="0" dirty="0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25" b="0" dirty="0" err="1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прошли</a:t>
            </a:r>
            <a:r>
              <a:rPr sz="1425" b="0" dirty="0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25" b="0" dirty="0" err="1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проверку</a:t>
            </a:r>
            <a:r>
              <a:rPr sz="1425" b="0" dirty="0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404 </a:t>
            </a:r>
            <a:r>
              <a:rPr lang="ru-RU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–</a:t>
            </a:r>
            <a:r>
              <a:rPr sz="1425" b="0" dirty="0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25" b="0" dirty="0" err="1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ресурс</a:t>
            </a:r>
            <a:r>
              <a:rPr sz="1425" b="0" dirty="0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с </a:t>
            </a:r>
            <a:r>
              <a:rPr sz="1425" b="0" dirty="0" err="1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указанным</a:t>
            </a:r>
            <a:r>
              <a:rPr sz="1425" b="0" dirty="0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id </a:t>
            </a:r>
            <a:r>
              <a:rPr sz="1425" b="0" dirty="0" err="1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не</a:t>
            </a:r>
            <a:r>
              <a:rPr sz="1425" b="0" dirty="0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25" b="0" dirty="0" err="1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найден</a:t>
            </a:r>
            <a:r>
              <a:rPr sz="1425" b="0" dirty="0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sz="1425" b="0" dirty="0" err="1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Это</a:t>
            </a:r>
            <a:r>
              <a:rPr sz="1425" b="0" dirty="0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25" b="0" dirty="0" err="1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разные</a:t>
            </a:r>
            <a:r>
              <a:rPr sz="1425" b="0" dirty="0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25" b="0" dirty="0" err="1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причины</a:t>
            </a:r>
            <a:r>
              <a:rPr sz="1425" b="0" dirty="0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25" b="0" dirty="0" err="1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отказа</a:t>
            </a:r>
            <a:r>
              <a:rPr sz="1425" b="0" dirty="0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134915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4867DB0F-0A02-4CAE-AAA9-1DF4E5DE84B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oundRect">
            <a:avLst>
              <a:gd name="adj" fmla="val 50000"/>
            </a:avLst>
          </a:prstGeom>
          <a:solidFill>
            <a:srgbClr val="3978A8"/>
          </a:solidFill>
          <a:ln w="0">
            <a:noFill/>
            <a:prstDash val="solid"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17CE1A78-756F-41A3-80CB-E7DC00A13240}"/>
              </a:ext>
            </a:extLst>
          </p:cNvPr>
          <p:cNvSpPr>
            <a:spLocks noGrp="1"/>
          </p:cNvSpPr>
          <p:nvPr/>
        </p:nvSpPr>
        <p:spPr>
          <a:xfrm>
            <a:off x="685800" y="276225"/>
            <a:ext cx="10820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978A8"/>
                </a:solidFill>
                <a:latin typeface="Arial"/>
                <a:ea typeface="Arial"/>
                <a:cs typeface="Arial"/>
              </a:rPr>
              <a:t>ЗАНЯТИЕ 3 · ВАЛИДАЦИЯ И ОШИБКИ API · ПОКАЗ КОДА · APP/HTTP/REQUESTS/STOREAPIREQUEST.PHP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D70E1794-8354-4B53-9B8E-28F3A7F17E30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108204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24364B"/>
                </a:solidFill>
                <a:latin typeface="Arial"/>
                <a:ea typeface="Arial"/>
                <a:cs typeface="Arial"/>
              </a:rPr>
              <a:t>Правила создания в StoreApiRequest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884B3CB-D4AE-4B7D-92EF-0B81FA827737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7143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 fontScale="97222"/>
          </a:bodyPr>
          <a:lstStyle>
            <a:defPPr algn="l"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77C"/>
                </a:solidFill>
                <a:latin typeface="Arial"/>
                <a:ea typeface="Arial"/>
                <a:cs typeface="Arial"/>
              </a:rPr>
              <a:t>МДК.09.01 · REST API на Laravel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78DFC3A5-FF8C-4BD7-B787-812379924433}"/>
              </a:ext>
            </a:extLst>
          </p:cNvPr>
          <p:cNvSpPr>
            <a:spLocks noGrp="1"/>
          </p:cNvSpPr>
          <p:nvPr/>
        </p:nvSpPr>
        <p:spPr>
          <a:xfrm>
            <a:off x="10572750" y="6496050"/>
            <a:ext cx="95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 fontScale="97222"/>
          </a:bodyPr>
          <a:lstStyle>
            <a:defPPr algn="r"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2677C"/>
                </a:solidFill>
                <a:latin typeface="Arial"/>
                <a:ea typeface="Arial"/>
                <a:cs typeface="Arial"/>
              </a:rPr>
              <a:t>04 / 11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B0916424-AF6D-4A03-8894-E30511239BDD}"/>
              </a:ext>
            </a:extLst>
          </p:cNvPr>
          <p:cNvSpPr>
            <a:spLocks noGrp="1"/>
          </p:cNvSpPr>
          <p:nvPr/>
        </p:nvSpPr>
        <p:spPr>
          <a:xfrm>
            <a:off x="685800" y="1457325"/>
            <a:ext cx="6610350" cy="4429125"/>
          </a:xfrm>
          <a:prstGeom prst="roundRect">
            <a:avLst>
              <a:gd name="adj" fmla="val 1720"/>
            </a:avLst>
          </a:prstGeom>
          <a:solidFill>
            <a:srgbClr val="F2F5F7"/>
          </a:solidFill>
          <a:ln w="0">
            <a:noFill/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4A43AC4-6ACC-4194-A8B8-F7CA83E4D851}"/>
              </a:ext>
            </a:extLst>
          </p:cNvPr>
          <p:cNvSpPr>
            <a:spLocks noGrp="1"/>
          </p:cNvSpPr>
          <p:nvPr/>
        </p:nvSpPr>
        <p:spPr>
          <a:xfrm>
            <a:off x="895350" y="1609725"/>
            <a:ext cx="609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978A8"/>
                </a:solidFill>
                <a:latin typeface="Arial"/>
                <a:ea typeface="Arial"/>
                <a:cs typeface="Arial"/>
              </a:rPr>
              <a:t>ФРАГМЕНТ КОДА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7428B1DA-F5EE-4C33-AE91-5EB22B06E20A}"/>
              </a:ext>
            </a:extLst>
          </p:cNvPr>
          <p:cNvSpPr>
            <a:spLocks noGrp="1"/>
          </p:cNvSpPr>
          <p:nvPr/>
        </p:nvSpPr>
        <p:spPr>
          <a:xfrm>
            <a:off x="895350" y="1924050"/>
            <a:ext cx="6191250" cy="3752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275" b="0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275" b="0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275" b="0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275" b="0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275" b="0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275" b="0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275" b="0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275" b="0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275" b="0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275" b="0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l">
              <a:buNone/>
              <a:defRPr sz="1275" b="0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24364B"/>
                </a:solidFill>
                <a:latin typeface="Consolas"/>
                <a:ea typeface="Consolas"/>
                <a:cs typeface="Consolas"/>
              </a:rPr>
              <a:t>public function rules(): array</a:t>
            </a:r>
          </a:p>
          <a:p>
            <a:pPr algn="l">
              <a:buNone/>
              <a:defRPr sz="1275" b="0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24364B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 algn="l">
              <a:buNone/>
              <a:defRPr sz="1275" b="0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24364B"/>
                </a:solidFill>
                <a:latin typeface="Consolas"/>
                <a:ea typeface="Consolas"/>
                <a:cs typeface="Consolas"/>
              </a:rPr>
              <a:t>    return [</a:t>
            </a:r>
          </a:p>
          <a:p>
            <a:pPr algn="l">
              <a:buNone/>
              <a:defRPr sz="1275" b="0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24364B"/>
                </a:solidFill>
                <a:latin typeface="Consolas"/>
                <a:ea typeface="Consolas"/>
                <a:cs typeface="Consolas"/>
              </a:rPr>
              <a:t>        'title' =&gt; 'required|string|max:255',</a:t>
            </a:r>
          </a:p>
          <a:p>
            <a:pPr algn="l">
              <a:buNone/>
              <a:defRPr sz="1275" b="0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24364B"/>
                </a:solidFill>
                <a:latin typeface="Consolas"/>
                <a:ea typeface="Consolas"/>
                <a:cs typeface="Consolas"/>
              </a:rPr>
              <a:t>        'description' =&gt; 'required|string',</a:t>
            </a:r>
          </a:p>
          <a:p>
            <a:pPr algn="l">
              <a:buNone/>
              <a:defRPr sz="1275" b="0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24364B"/>
                </a:solidFill>
                <a:latin typeface="Consolas"/>
                <a:ea typeface="Consolas"/>
                <a:cs typeface="Consolas"/>
              </a:rPr>
              <a:t>    ];</a:t>
            </a:r>
          </a:p>
          <a:p>
            <a:pPr algn="l">
              <a:buNone/>
              <a:defRPr sz="1275" b="0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24364B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7FEC63AE-A3BB-4120-A4E3-038DAE8940DF}"/>
              </a:ext>
            </a:extLst>
          </p:cNvPr>
          <p:cNvSpPr>
            <a:spLocks noGrp="1"/>
          </p:cNvSpPr>
          <p:nvPr/>
        </p:nvSpPr>
        <p:spPr>
          <a:xfrm>
            <a:off x="7562850" y="1457325"/>
            <a:ext cx="3943350" cy="1314450"/>
          </a:xfrm>
          <a:prstGeom prst="roundRect">
            <a:avLst>
              <a:gd name="adj" fmla="val 5797"/>
            </a:avLst>
          </a:prstGeom>
          <a:solidFill>
            <a:srgbClr val="EAF4F8"/>
          </a:solidFill>
          <a:ln w="0">
            <a:noFill/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F24CC840-D21C-4A1E-B060-DD1589F670EB}"/>
              </a:ext>
            </a:extLst>
          </p:cNvPr>
          <p:cNvSpPr>
            <a:spLocks noGrp="1"/>
          </p:cNvSpPr>
          <p:nvPr/>
        </p:nvSpPr>
        <p:spPr>
          <a:xfrm>
            <a:off x="7753350" y="1609725"/>
            <a:ext cx="3562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978A8"/>
                </a:solidFill>
                <a:latin typeface="Arial"/>
                <a:ea typeface="Arial"/>
                <a:cs typeface="Arial"/>
              </a:rPr>
              <a:t>required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2F851B9-6373-4AF0-89DA-1B77B274C7E3}"/>
              </a:ext>
            </a:extLst>
          </p:cNvPr>
          <p:cNvSpPr>
            <a:spLocks noGrp="1"/>
          </p:cNvSpPr>
          <p:nvPr/>
        </p:nvSpPr>
        <p:spPr>
          <a:xfrm>
            <a:off x="7753350" y="1952625"/>
            <a:ext cx="35623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Поле должно присутствовать и не быть пустым.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4DFEC691-1864-411F-98ED-0D7323A10329}"/>
              </a:ext>
            </a:extLst>
          </p:cNvPr>
          <p:cNvSpPr>
            <a:spLocks noGrp="1"/>
          </p:cNvSpPr>
          <p:nvPr/>
        </p:nvSpPr>
        <p:spPr>
          <a:xfrm>
            <a:off x="7562850" y="2952750"/>
            <a:ext cx="3943350" cy="1314450"/>
          </a:xfrm>
          <a:prstGeom prst="roundRect">
            <a:avLst>
              <a:gd name="adj" fmla="val 5797"/>
            </a:avLst>
          </a:prstGeom>
          <a:solidFill>
            <a:srgbClr val="E9F5EF"/>
          </a:solidFill>
          <a:ln w="0">
            <a:noFill/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D6469295-073F-4F9E-9D69-71F13898840A}"/>
              </a:ext>
            </a:extLst>
          </p:cNvPr>
          <p:cNvSpPr>
            <a:spLocks noGrp="1"/>
          </p:cNvSpPr>
          <p:nvPr/>
        </p:nvSpPr>
        <p:spPr>
          <a:xfrm>
            <a:off x="7753350" y="3105150"/>
            <a:ext cx="3562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978A8"/>
                </a:solidFill>
                <a:latin typeface="Arial"/>
                <a:ea typeface="Arial"/>
                <a:cs typeface="Arial"/>
              </a:rPr>
              <a:t>string и max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6EE7F5DD-124F-4FCB-B001-C3B80D0E3112}"/>
              </a:ext>
            </a:extLst>
          </p:cNvPr>
          <p:cNvSpPr>
            <a:spLocks noGrp="1"/>
          </p:cNvSpPr>
          <p:nvPr/>
        </p:nvSpPr>
        <p:spPr>
          <a:xfrm>
            <a:off x="7753350" y="3448050"/>
            <a:ext cx="35623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Требуют строку и ограничивают длину title 255 символами.</a:t>
            </a: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9A75D850-5B39-452F-8C5E-59A05A1D234F}"/>
              </a:ext>
            </a:extLst>
          </p:cNvPr>
          <p:cNvSpPr>
            <a:spLocks noGrp="1"/>
          </p:cNvSpPr>
          <p:nvPr/>
        </p:nvSpPr>
        <p:spPr>
          <a:xfrm>
            <a:off x="7562850" y="4448175"/>
            <a:ext cx="3943350" cy="1314450"/>
          </a:xfrm>
          <a:prstGeom prst="roundRect">
            <a:avLst>
              <a:gd name="adj" fmla="val 5797"/>
            </a:avLst>
          </a:prstGeom>
          <a:solidFill>
            <a:srgbClr val="EAF4F8"/>
          </a:solidFill>
          <a:ln w="0">
            <a:noFill/>
            <a:prstDash val="solid"/>
          </a:ln>
        </p:spPr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329C6A8A-E496-49DE-979A-249D44AD0B54}"/>
              </a:ext>
            </a:extLst>
          </p:cNvPr>
          <p:cNvSpPr>
            <a:spLocks noGrp="1"/>
          </p:cNvSpPr>
          <p:nvPr/>
        </p:nvSpPr>
        <p:spPr>
          <a:xfrm>
            <a:off x="7753350" y="4600575"/>
            <a:ext cx="3562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978A8"/>
                </a:solidFill>
                <a:latin typeface="Arial"/>
                <a:ea typeface="Arial"/>
                <a:cs typeface="Arial"/>
              </a:rPr>
              <a:t>authorize()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E31AE483-6CC1-407A-B872-9EB720A93899}"/>
              </a:ext>
            </a:extLst>
          </p:cNvPr>
          <p:cNvSpPr>
            <a:spLocks noGrp="1"/>
          </p:cNvSpPr>
          <p:nvPr/>
        </p:nvSpPr>
        <p:spPr>
          <a:xfrm>
            <a:off x="7753350" y="4943475"/>
            <a:ext cx="35623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В учебном файле возвращает true. Это демонстрация, а не готовая проверка прав пользователя.</a:t>
            </a:r>
          </a:p>
        </p:txBody>
      </p:sp>
    </p:spTree>
    <p:extLst>
      <p:ext uri="{BB962C8B-B14F-4D97-AF65-F5344CB8AC3E}">
        <p14:creationId xmlns:p14="http://schemas.microsoft.com/office/powerpoint/2010/main" val="6180888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FA1FA99E-A0D8-4C0E-9216-27391CEE363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oundRect">
            <a:avLst>
              <a:gd name="adj" fmla="val 50000"/>
            </a:avLst>
          </a:prstGeom>
          <a:solidFill>
            <a:srgbClr val="3978A8"/>
          </a:solidFill>
          <a:ln w="0">
            <a:noFill/>
            <a:prstDash val="solid"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3AB2B54-31BD-4EBE-BDAB-F9CB3F39486D}"/>
              </a:ext>
            </a:extLst>
          </p:cNvPr>
          <p:cNvSpPr>
            <a:spLocks noGrp="1"/>
          </p:cNvSpPr>
          <p:nvPr/>
        </p:nvSpPr>
        <p:spPr>
          <a:xfrm>
            <a:off x="685800" y="276225"/>
            <a:ext cx="10820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978A8"/>
                </a:solidFill>
                <a:latin typeface="Arial"/>
                <a:ea typeface="Arial"/>
                <a:cs typeface="Arial"/>
              </a:rPr>
              <a:t>ЗАНЯТИЕ 3 · ВАЛИДАЦИЯ И ОШИБКИ API · ПОЯСНЕНИЕ · ЧАСТИЧНЫЙ PATCH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65BEFEAA-2E1B-4237-9A65-A572E9FF810D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108204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24364B"/>
                </a:solidFill>
                <a:latin typeface="Arial"/>
                <a:ea typeface="Arial"/>
                <a:cs typeface="Arial"/>
              </a:rPr>
              <a:t>Правила обновления в UpdateApiRequest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D7C6631-FCD5-4B52-A80D-52DBC1031748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7143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 fontScale="97222"/>
          </a:bodyPr>
          <a:lstStyle>
            <a:defPPr algn="l"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77C"/>
                </a:solidFill>
                <a:latin typeface="Arial"/>
                <a:ea typeface="Arial"/>
                <a:cs typeface="Arial"/>
              </a:rPr>
              <a:t>МДК.09.01 · REST API на Laravel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D6912EA-CCE8-42E5-950F-29930E6C6D71}"/>
              </a:ext>
            </a:extLst>
          </p:cNvPr>
          <p:cNvSpPr>
            <a:spLocks noGrp="1"/>
          </p:cNvSpPr>
          <p:nvPr/>
        </p:nvSpPr>
        <p:spPr>
          <a:xfrm>
            <a:off x="10572750" y="6496050"/>
            <a:ext cx="95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 fontScale="97222"/>
          </a:bodyPr>
          <a:lstStyle>
            <a:defPPr algn="r"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2677C"/>
                </a:solidFill>
                <a:latin typeface="Arial"/>
                <a:ea typeface="Arial"/>
                <a:cs typeface="Arial"/>
              </a:rPr>
              <a:t>05 / 11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D59F023E-D529-4195-ABEB-3EE832293EF5}"/>
              </a:ext>
            </a:extLst>
          </p:cNvPr>
          <p:cNvSpPr>
            <a:spLocks noGrp="1"/>
          </p:cNvSpPr>
          <p:nvPr/>
        </p:nvSpPr>
        <p:spPr>
          <a:xfrm>
            <a:off x="685800" y="1457325"/>
            <a:ext cx="6610350" cy="4429125"/>
          </a:xfrm>
          <a:prstGeom prst="roundRect">
            <a:avLst>
              <a:gd name="adj" fmla="val 1720"/>
            </a:avLst>
          </a:prstGeom>
          <a:solidFill>
            <a:srgbClr val="F2F5F7"/>
          </a:solidFill>
          <a:ln w="0">
            <a:noFill/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A1866BC-E548-43DC-A420-5334255090C2}"/>
              </a:ext>
            </a:extLst>
          </p:cNvPr>
          <p:cNvSpPr>
            <a:spLocks noGrp="1"/>
          </p:cNvSpPr>
          <p:nvPr/>
        </p:nvSpPr>
        <p:spPr>
          <a:xfrm>
            <a:off x="895350" y="1609725"/>
            <a:ext cx="609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978A8"/>
                </a:solidFill>
                <a:latin typeface="Arial"/>
                <a:ea typeface="Arial"/>
                <a:cs typeface="Arial"/>
              </a:rPr>
              <a:t>ФРАГМЕНТ КОДА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26CB6598-72AC-4A00-B0CC-45EDB52050EC}"/>
              </a:ext>
            </a:extLst>
          </p:cNvPr>
          <p:cNvSpPr>
            <a:spLocks noGrp="1"/>
          </p:cNvSpPr>
          <p:nvPr/>
        </p:nvSpPr>
        <p:spPr>
          <a:xfrm>
            <a:off x="895350" y="1924050"/>
            <a:ext cx="6191250" cy="3752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275" b="0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275" b="0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275" b="0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275" b="0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275" b="0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275" b="0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275" b="0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275" b="0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275" b="0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275" b="0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l">
              <a:buNone/>
              <a:defRPr sz="1275" b="0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24364B"/>
                </a:solidFill>
                <a:latin typeface="Consolas"/>
                <a:ea typeface="Consolas"/>
                <a:cs typeface="Consolas"/>
              </a:rPr>
              <a:t>public function rules(): array</a:t>
            </a:r>
          </a:p>
          <a:p>
            <a:pPr algn="l">
              <a:buNone/>
              <a:defRPr sz="1275" b="0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24364B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 algn="l">
              <a:buNone/>
              <a:defRPr sz="1275" b="0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24364B"/>
                </a:solidFill>
                <a:latin typeface="Consolas"/>
                <a:ea typeface="Consolas"/>
                <a:cs typeface="Consolas"/>
              </a:rPr>
              <a:t>    return [</a:t>
            </a:r>
          </a:p>
          <a:p>
            <a:pPr algn="l">
              <a:buNone/>
              <a:defRPr sz="1275" b="0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24364B"/>
                </a:solidFill>
                <a:latin typeface="Consolas"/>
                <a:ea typeface="Consolas"/>
                <a:cs typeface="Consolas"/>
              </a:rPr>
              <a:t>        'title' =&gt; 'sometimes|required|string|max:255',</a:t>
            </a:r>
          </a:p>
          <a:p>
            <a:pPr algn="l">
              <a:buNone/>
              <a:defRPr sz="1275" b="0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24364B"/>
                </a:solidFill>
                <a:latin typeface="Consolas"/>
                <a:ea typeface="Consolas"/>
                <a:cs typeface="Consolas"/>
              </a:rPr>
              <a:t>        'description' =&gt; 'sometimes|required|string',</a:t>
            </a:r>
          </a:p>
          <a:p>
            <a:pPr algn="l">
              <a:buNone/>
              <a:defRPr sz="1275" b="0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24364B"/>
                </a:solidFill>
                <a:latin typeface="Consolas"/>
                <a:ea typeface="Consolas"/>
                <a:cs typeface="Consolas"/>
              </a:rPr>
              <a:t>        'status' =&gt; 'sometimes|required|in:new,in_progress,completed',</a:t>
            </a:r>
          </a:p>
          <a:p>
            <a:pPr algn="l">
              <a:buNone/>
              <a:defRPr sz="1275" b="0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24364B"/>
                </a:solidFill>
                <a:latin typeface="Consolas"/>
                <a:ea typeface="Consolas"/>
                <a:cs typeface="Consolas"/>
              </a:rPr>
              <a:t>    ];</a:t>
            </a:r>
          </a:p>
          <a:p>
            <a:pPr algn="l">
              <a:buNone/>
              <a:defRPr sz="1275" b="0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24364B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53A0B835-F7FF-49C7-90E0-066D718AA423}"/>
              </a:ext>
            </a:extLst>
          </p:cNvPr>
          <p:cNvSpPr>
            <a:spLocks noGrp="1"/>
          </p:cNvSpPr>
          <p:nvPr/>
        </p:nvSpPr>
        <p:spPr>
          <a:xfrm>
            <a:off x="7562850" y="1457325"/>
            <a:ext cx="3943350" cy="1314450"/>
          </a:xfrm>
          <a:prstGeom prst="roundRect">
            <a:avLst>
              <a:gd name="adj" fmla="val 5797"/>
            </a:avLst>
          </a:prstGeom>
          <a:solidFill>
            <a:srgbClr val="EAF4F8"/>
          </a:solidFill>
          <a:ln w="0">
            <a:noFill/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15D64E43-F43B-4822-A652-37ABE0F59257}"/>
              </a:ext>
            </a:extLst>
          </p:cNvPr>
          <p:cNvSpPr>
            <a:spLocks noGrp="1"/>
          </p:cNvSpPr>
          <p:nvPr/>
        </p:nvSpPr>
        <p:spPr>
          <a:xfrm>
            <a:off x="7753350" y="1609725"/>
            <a:ext cx="3562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978A8"/>
                </a:solidFill>
                <a:latin typeface="Arial"/>
                <a:ea typeface="Arial"/>
                <a:cs typeface="Arial"/>
              </a:rPr>
              <a:t>sometimes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382E5CB-4FE8-4810-937C-ACE8FD24DC99}"/>
              </a:ext>
            </a:extLst>
          </p:cNvPr>
          <p:cNvSpPr>
            <a:spLocks noGrp="1"/>
          </p:cNvSpPr>
          <p:nvPr/>
        </p:nvSpPr>
        <p:spPr>
          <a:xfrm>
            <a:off x="7753350" y="1952625"/>
            <a:ext cx="35623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Проверять поле, только если клиент его передал. Это подходит для частичного PATCH.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A286CBDD-CCB7-468A-BE26-33EEE89C2565}"/>
              </a:ext>
            </a:extLst>
          </p:cNvPr>
          <p:cNvSpPr>
            <a:spLocks noGrp="1"/>
          </p:cNvSpPr>
          <p:nvPr/>
        </p:nvSpPr>
        <p:spPr>
          <a:xfrm>
            <a:off x="7562850" y="2952750"/>
            <a:ext cx="3943350" cy="1314450"/>
          </a:xfrm>
          <a:prstGeom prst="roundRect">
            <a:avLst>
              <a:gd name="adj" fmla="val 5797"/>
            </a:avLst>
          </a:prstGeom>
          <a:solidFill>
            <a:srgbClr val="E9F5EF"/>
          </a:solidFill>
          <a:ln w="0">
            <a:noFill/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5655988-47E8-46DD-B8FD-BDE4538C4DEF}"/>
              </a:ext>
            </a:extLst>
          </p:cNvPr>
          <p:cNvSpPr>
            <a:spLocks noGrp="1"/>
          </p:cNvSpPr>
          <p:nvPr/>
        </p:nvSpPr>
        <p:spPr>
          <a:xfrm>
            <a:off x="7753350" y="3105150"/>
            <a:ext cx="3562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978A8"/>
                </a:solidFill>
                <a:latin typeface="Arial"/>
                <a:ea typeface="Arial"/>
                <a:cs typeface="Arial"/>
              </a:rPr>
              <a:t>in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B899C9AC-92FD-4ECE-A2D1-8167660D5F4B}"/>
              </a:ext>
            </a:extLst>
          </p:cNvPr>
          <p:cNvSpPr>
            <a:spLocks noGrp="1"/>
          </p:cNvSpPr>
          <p:nvPr/>
        </p:nvSpPr>
        <p:spPr>
          <a:xfrm>
            <a:off x="7753350" y="3448050"/>
            <a:ext cx="35623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Разрешает только перечисленные значения статуса. waiting не пройдёт проверку.</a:t>
            </a: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18BDD26B-B2F3-462E-A80B-6E8464090239}"/>
              </a:ext>
            </a:extLst>
          </p:cNvPr>
          <p:cNvSpPr>
            <a:spLocks noGrp="1"/>
          </p:cNvSpPr>
          <p:nvPr/>
        </p:nvSpPr>
        <p:spPr>
          <a:xfrm>
            <a:off x="7562850" y="4448175"/>
            <a:ext cx="3943350" cy="1314450"/>
          </a:xfrm>
          <a:prstGeom prst="roundRect">
            <a:avLst>
              <a:gd name="adj" fmla="val 5797"/>
            </a:avLst>
          </a:prstGeom>
          <a:solidFill>
            <a:srgbClr val="EAF4F8"/>
          </a:solidFill>
          <a:ln w="0">
            <a:noFill/>
            <a:prstDash val="solid"/>
          </a:ln>
        </p:spPr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5F581AD0-C228-49D4-AA65-1D417DEB7089}"/>
              </a:ext>
            </a:extLst>
          </p:cNvPr>
          <p:cNvSpPr>
            <a:spLocks noGrp="1"/>
          </p:cNvSpPr>
          <p:nvPr/>
        </p:nvSpPr>
        <p:spPr>
          <a:xfrm>
            <a:off x="7753350" y="4600575"/>
            <a:ext cx="3562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978A8"/>
                </a:solidFill>
                <a:latin typeface="Arial"/>
                <a:ea typeface="Arial"/>
                <a:cs typeface="Arial"/>
              </a:rPr>
              <a:t>После ошибки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6858306B-B24A-4C76-B370-E93694783A10}"/>
              </a:ext>
            </a:extLst>
          </p:cNvPr>
          <p:cNvSpPr>
            <a:spLocks noGrp="1"/>
          </p:cNvSpPr>
          <p:nvPr/>
        </p:nvSpPr>
        <p:spPr>
          <a:xfrm>
            <a:off x="7753350" y="4943475"/>
            <a:ext cx="35623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Проверьте GET: отклонённое значение не должно сохраниться.</a:t>
            </a:r>
          </a:p>
        </p:txBody>
      </p:sp>
    </p:spTree>
    <p:extLst>
      <p:ext uri="{BB962C8B-B14F-4D97-AF65-F5344CB8AC3E}">
        <p14:creationId xmlns:p14="http://schemas.microsoft.com/office/powerpoint/2010/main" val="5750328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9C16545A-AA84-47E5-9BA8-2B95A5DA8EA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oundRect">
            <a:avLst>
              <a:gd name="adj" fmla="val 50000"/>
            </a:avLst>
          </a:prstGeom>
          <a:solidFill>
            <a:srgbClr val="3978A8"/>
          </a:solidFill>
          <a:ln w="0">
            <a:noFill/>
            <a:prstDash val="solid"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D57DCF8-1FD7-4F43-9B75-45011D7358F2}"/>
              </a:ext>
            </a:extLst>
          </p:cNvPr>
          <p:cNvSpPr>
            <a:spLocks noGrp="1"/>
          </p:cNvSpPr>
          <p:nvPr/>
        </p:nvSpPr>
        <p:spPr>
          <a:xfrm>
            <a:off x="685800" y="276225"/>
            <a:ext cx="10820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978A8"/>
                </a:solidFill>
                <a:latin typeface="Arial"/>
                <a:ea typeface="Arial"/>
                <a:cs typeface="Arial"/>
              </a:rPr>
              <a:t>ЗАНЯТИЕ 3 · ВАЛИДАЦИЯ И ОШИБКИ API · ПОКАЗ КОДА · REQUESTCONTROLLER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F1EE5852-45BE-42F7-BCF5-4BBD452848BD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108204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24364B"/>
                </a:solidFill>
                <a:latin typeface="Arial"/>
                <a:ea typeface="Arial"/>
                <a:cs typeface="Arial"/>
              </a:rPr>
              <a:t>Контроллер получает только проверенные данные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2A446320-02BE-426D-A060-F06060B7608E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7143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 fontScale="97222"/>
          </a:bodyPr>
          <a:lstStyle>
            <a:defPPr algn="l"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77C"/>
                </a:solidFill>
                <a:latin typeface="Arial"/>
                <a:ea typeface="Arial"/>
                <a:cs typeface="Arial"/>
              </a:rPr>
              <a:t>МДК.09.01 · REST API на Laravel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A72CDD93-EB06-4B12-9268-06207A433B20}"/>
              </a:ext>
            </a:extLst>
          </p:cNvPr>
          <p:cNvSpPr>
            <a:spLocks noGrp="1"/>
          </p:cNvSpPr>
          <p:nvPr/>
        </p:nvSpPr>
        <p:spPr>
          <a:xfrm>
            <a:off x="10572750" y="6496050"/>
            <a:ext cx="95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 fontScale="97222"/>
          </a:bodyPr>
          <a:lstStyle>
            <a:defPPr algn="r"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2677C"/>
                </a:solidFill>
                <a:latin typeface="Arial"/>
                <a:ea typeface="Arial"/>
                <a:cs typeface="Arial"/>
              </a:rPr>
              <a:t>06 / 11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0E725A2F-3255-412B-AF5B-5624699FA7AF}"/>
              </a:ext>
            </a:extLst>
          </p:cNvPr>
          <p:cNvSpPr>
            <a:spLocks noGrp="1"/>
          </p:cNvSpPr>
          <p:nvPr/>
        </p:nvSpPr>
        <p:spPr>
          <a:xfrm>
            <a:off x="685800" y="1457325"/>
            <a:ext cx="6610350" cy="4429125"/>
          </a:xfrm>
          <a:prstGeom prst="roundRect">
            <a:avLst>
              <a:gd name="adj" fmla="val 1720"/>
            </a:avLst>
          </a:prstGeom>
          <a:solidFill>
            <a:srgbClr val="F2F5F7"/>
          </a:solidFill>
          <a:ln w="0">
            <a:noFill/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EB71E6B5-4DC3-41A7-AA7E-E279A541020B}"/>
              </a:ext>
            </a:extLst>
          </p:cNvPr>
          <p:cNvSpPr>
            <a:spLocks noGrp="1"/>
          </p:cNvSpPr>
          <p:nvPr/>
        </p:nvSpPr>
        <p:spPr>
          <a:xfrm>
            <a:off x="895350" y="1609725"/>
            <a:ext cx="609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978A8"/>
                </a:solidFill>
                <a:latin typeface="Arial"/>
                <a:ea typeface="Arial"/>
                <a:cs typeface="Arial"/>
              </a:rPr>
              <a:t>ФРАГМЕНТ КОДА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AE6DA23C-B6E9-43F2-880C-78758B1B975D}"/>
              </a:ext>
            </a:extLst>
          </p:cNvPr>
          <p:cNvSpPr>
            <a:spLocks noGrp="1"/>
          </p:cNvSpPr>
          <p:nvPr/>
        </p:nvSpPr>
        <p:spPr>
          <a:xfrm>
            <a:off x="895350" y="1924050"/>
            <a:ext cx="6191250" cy="3752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275" b="0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275" b="0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275" b="0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275" b="0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275" b="0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275" b="0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275" b="0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275" b="0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275" b="0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275" b="0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l">
              <a:buNone/>
              <a:defRPr sz="1275" b="0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24364B"/>
                </a:solidFill>
                <a:latin typeface="Consolas"/>
                <a:ea typeface="Consolas"/>
                <a:cs typeface="Consolas"/>
              </a:rPr>
              <a:t>public function store(</a:t>
            </a:r>
          </a:p>
          <a:p>
            <a:pPr algn="l">
              <a:buNone/>
              <a:defRPr sz="1275" b="0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24364B"/>
                </a:solidFill>
                <a:latin typeface="Consolas"/>
                <a:ea typeface="Consolas"/>
                <a:cs typeface="Consolas"/>
              </a:rPr>
              <a:t>    StoreApiRequest $request</a:t>
            </a:r>
          </a:p>
          <a:p>
            <a:pPr algn="l">
              <a:buNone/>
              <a:defRPr sz="1275" b="0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24364B"/>
                </a:solidFill>
                <a:latin typeface="Consolas"/>
                <a:ea typeface="Consolas"/>
                <a:cs typeface="Consolas"/>
              </a:rPr>
              <a:t>): JsonResponse {</a:t>
            </a:r>
          </a:p>
          <a:p>
            <a:pPr algn="l">
              <a:buNone/>
              <a:defRPr sz="1275" b="0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24364B"/>
                </a:solidFill>
                <a:latin typeface="Consolas"/>
                <a:ea typeface="Consolas"/>
                <a:cs typeface="Consolas"/>
              </a:rPr>
              <a:t>    $item = EquipmentRequest::query()-&gt;create(</a:t>
            </a:r>
          </a:p>
          <a:p>
            <a:pPr algn="l">
              <a:buNone/>
              <a:defRPr sz="1275" b="0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24364B"/>
                </a:solidFill>
                <a:latin typeface="Consolas"/>
                <a:ea typeface="Consolas"/>
                <a:cs typeface="Consolas"/>
              </a:rPr>
              <a:t>        $request-&gt;validated()</a:t>
            </a:r>
          </a:p>
          <a:p>
            <a:pPr algn="l">
              <a:buNone/>
              <a:defRPr sz="1275" b="0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24364B"/>
                </a:solidFill>
                <a:latin typeface="Consolas"/>
                <a:ea typeface="Consolas"/>
                <a:cs typeface="Consolas"/>
              </a:rPr>
              <a:t>    );</a:t>
            </a:r>
          </a:p>
          <a:p>
            <a:endParaRPr sz="1275" b="0">
              <a:solidFill>
                <a:srgbClr val="24364B"/>
              </a:solidFill>
              <a:latin typeface="Consolas"/>
              <a:ea typeface="Consolas"/>
              <a:cs typeface="Consolas"/>
            </a:endParaRPr>
          </a:p>
          <a:p>
            <a:pPr algn="l">
              <a:buNone/>
              <a:defRPr sz="1275" b="0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24364B"/>
                </a:solidFill>
                <a:latin typeface="Consolas"/>
                <a:ea typeface="Consolas"/>
                <a:cs typeface="Consolas"/>
              </a:rPr>
              <a:t>    return response()-&gt;json($item, 201);</a:t>
            </a:r>
          </a:p>
          <a:p>
            <a:pPr algn="l">
              <a:buNone/>
              <a:defRPr sz="1275" b="0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24364B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FB929B3A-7A76-43C3-B461-6FE12431DEE6}"/>
              </a:ext>
            </a:extLst>
          </p:cNvPr>
          <p:cNvSpPr>
            <a:spLocks noGrp="1"/>
          </p:cNvSpPr>
          <p:nvPr/>
        </p:nvSpPr>
        <p:spPr>
          <a:xfrm>
            <a:off x="7562850" y="1457325"/>
            <a:ext cx="3943350" cy="1314450"/>
          </a:xfrm>
          <a:prstGeom prst="roundRect">
            <a:avLst>
              <a:gd name="adj" fmla="val 5797"/>
            </a:avLst>
          </a:prstGeom>
          <a:solidFill>
            <a:srgbClr val="EAF4F8"/>
          </a:solidFill>
          <a:ln w="0">
            <a:noFill/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7D66FAC4-BA61-4888-A0C5-F0E217446212}"/>
              </a:ext>
            </a:extLst>
          </p:cNvPr>
          <p:cNvSpPr>
            <a:spLocks noGrp="1"/>
          </p:cNvSpPr>
          <p:nvPr/>
        </p:nvSpPr>
        <p:spPr>
          <a:xfrm>
            <a:off x="7753350" y="1609725"/>
            <a:ext cx="3562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978A8"/>
                </a:solidFill>
                <a:latin typeface="Arial"/>
                <a:ea typeface="Arial"/>
                <a:cs typeface="Arial"/>
              </a:rPr>
              <a:t>Автоматическая проверка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2FB4A93C-EDCF-484C-9BF4-227EE3973D10}"/>
              </a:ext>
            </a:extLst>
          </p:cNvPr>
          <p:cNvSpPr>
            <a:spLocks noGrp="1"/>
          </p:cNvSpPr>
          <p:nvPr/>
        </p:nvSpPr>
        <p:spPr>
          <a:xfrm>
            <a:off x="7753350" y="1952625"/>
            <a:ext cx="35623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Form Request выполняется до тела метода контроллера.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F3BB6FB0-A3FB-4C86-A099-4399CC05CE19}"/>
              </a:ext>
            </a:extLst>
          </p:cNvPr>
          <p:cNvSpPr>
            <a:spLocks noGrp="1"/>
          </p:cNvSpPr>
          <p:nvPr/>
        </p:nvSpPr>
        <p:spPr>
          <a:xfrm>
            <a:off x="7562850" y="2952750"/>
            <a:ext cx="3943350" cy="1314450"/>
          </a:xfrm>
          <a:prstGeom prst="roundRect">
            <a:avLst>
              <a:gd name="adj" fmla="val 5797"/>
            </a:avLst>
          </a:prstGeom>
          <a:solidFill>
            <a:srgbClr val="E9F5EF"/>
          </a:solidFill>
          <a:ln w="0">
            <a:noFill/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CA914BBC-9DB6-4884-8F23-EBAF1512731D}"/>
              </a:ext>
            </a:extLst>
          </p:cNvPr>
          <p:cNvSpPr>
            <a:spLocks noGrp="1"/>
          </p:cNvSpPr>
          <p:nvPr/>
        </p:nvSpPr>
        <p:spPr>
          <a:xfrm>
            <a:off x="7753350" y="3105150"/>
            <a:ext cx="3562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978A8"/>
                </a:solidFill>
                <a:latin typeface="Arial"/>
                <a:ea typeface="Arial"/>
                <a:cs typeface="Arial"/>
              </a:rPr>
              <a:t>validated()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C5848A6B-FE53-4074-9E9B-BC0FE733A12F}"/>
              </a:ext>
            </a:extLst>
          </p:cNvPr>
          <p:cNvSpPr>
            <a:spLocks noGrp="1"/>
          </p:cNvSpPr>
          <p:nvPr/>
        </p:nvSpPr>
        <p:spPr>
          <a:xfrm>
            <a:off x="7753350" y="3448050"/>
            <a:ext cx="35623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Возвращает только поля, разрешённые правилами.</a:t>
            </a: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B4E94228-A195-4B95-9F55-D8F2BF191AA3}"/>
              </a:ext>
            </a:extLst>
          </p:cNvPr>
          <p:cNvSpPr>
            <a:spLocks noGrp="1"/>
          </p:cNvSpPr>
          <p:nvPr/>
        </p:nvSpPr>
        <p:spPr>
          <a:xfrm>
            <a:off x="7562850" y="4448175"/>
            <a:ext cx="3943350" cy="1314450"/>
          </a:xfrm>
          <a:prstGeom prst="roundRect">
            <a:avLst>
              <a:gd name="adj" fmla="val 5797"/>
            </a:avLst>
          </a:prstGeom>
          <a:solidFill>
            <a:srgbClr val="EAF4F8"/>
          </a:solidFill>
          <a:ln w="0">
            <a:noFill/>
            <a:prstDash val="solid"/>
          </a:ln>
        </p:spPr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39C6B852-6394-4009-AC51-D5C1E5EE77BF}"/>
              </a:ext>
            </a:extLst>
          </p:cNvPr>
          <p:cNvSpPr>
            <a:spLocks noGrp="1"/>
          </p:cNvSpPr>
          <p:nvPr/>
        </p:nvSpPr>
        <p:spPr>
          <a:xfrm>
            <a:off x="7753350" y="4600575"/>
            <a:ext cx="3562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978A8"/>
                </a:solidFill>
                <a:latin typeface="Arial"/>
                <a:ea typeface="Arial"/>
                <a:cs typeface="Arial"/>
              </a:rPr>
              <a:t>Результат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FB3677C7-CBEF-4C88-8455-2389F4248D89}"/>
              </a:ext>
            </a:extLst>
          </p:cNvPr>
          <p:cNvSpPr>
            <a:spLocks noGrp="1"/>
          </p:cNvSpPr>
          <p:nvPr/>
        </p:nvSpPr>
        <p:spPr>
          <a:xfrm>
            <a:off x="7753350" y="4943475"/>
            <a:ext cx="35623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При успешном создании контроллер возвращает объект и статус 201.</a:t>
            </a:r>
          </a:p>
        </p:txBody>
      </p:sp>
    </p:spTree>
    <p:extLst>
      <p:ext uri="{BB962C8B-B14F-4D97-AF65-F5344CB8AC3E}">
        <p14:creationId xmlns:p14="http://schemas.microsoft.com/office/powerpoint/2010/main" val="10860394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D43F3CBC-65A0-4AFE-94BC-FFF70E44C31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oundRect">
            <a:avLst>
              <a:gd name="adj" fmla="val 50000"/>
            </a:avLst>
          </a:prstGeom>
          <a:solidFill>
            <a:srgbClr val="3978A8"/>
          </a:solidFill>
          <a:ln w="0">
            <a:noFill/>
            <a:prstDash val="solid"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9B14A8D-DF4A-4E12-8588-1D17F27B06A5}"/>
              </a:ext>
            </a:extLst>
          </p:cNvPr>
          <p:cNvSpPr>
            <a:spLocks noGrp="1"/>
          </p:cNvSpPr>
          <p:nvPr/>
        </p:nvSpPr>
        <p:spPr>
          <a:xfrm>
            <a:off x="685800" y="276225"/>
            <a:ext cx="10820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978A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ЗАНЯТИЕ 3 · ВАЛИДАЦИЯ И ОШИБКИ API · ДЕМОНСТРАЦИЯ · ПРОВЕРКА ОШИБОК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2AD803E6-800A-48EB-9DE6-C52367A2FAD1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108204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Негативные сценарии в Bruno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6F347A0-90BA-481E-ADAA-18919CA4E1F8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7143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 fontScale="97222" lnSpcReduction="10000"/>
          </a:bodyPr>
          <a:lstStyle>
            <a:defPPr algn="l"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77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МДК.09.01 · REST API на Laravel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F728EDAD-E68B-41B5-9E20-089486274542}"/>
              </a:ext>
            </a:extLst>
          </p:cNvPr>
          <p:cNvSpPr>
            <a:spLocks noGrp="1"/>
          </p:cNvSpPr>
          <p:nvPr/>
        </p:nvSpPr>
        <p:spPr>
          <a:xfrm>
            <a:off x="10572750" y="6496050"/>
            <a:ext cx="95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 fontScale="97222" lnSpcReduction="10000"/>
          </a:bodyPr>
          <a:lstStyle>
            <a:defPPr algn="r"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2677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07 / 11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CC2886B0-8E67-4EBC-825B-F500902284C5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5295900" cy="2905125"/>
          </a:xfrm>
          <a:prstGeom prst="roundRect">
            <a:avLst>
              <a:gd name="adj" fmla="val 2623"/>
            </a:avLst>
          </a:prstGeom>
          <a:solidFill>
            <a:srgbClr val="EAF4F8"/>
          </a:solidFill>
          <a:ln w="0">
            <a:noFill/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DED101BE-5384-41EF-9CB6-655A323C7B20}"/>
              </a:ext>
            </a:extLst>
          </p:cNvPr>
          <p:cNvSpPr>
            <a:spLocks noGrp="1"/>
          </p:cNvSpPr>
          <p:nvPr/>
        </p:nvSpPr>
        <p:spPr>
          <a:xfrm>
            <a:off x="895350" y="1714500"/>
            <a:ext cx="4857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978A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Некорректное создание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14397CE6-1B57-4716-8D57-2C3FCBE2FA21}"/>
              </a:ext>
            </a:extLst>
          </p:cNvPr>
          <p:cNvSpPr>
            <a:spLocks noGrp="1"/>
          </p:cNvSpPr>
          <p:nvPr/>
        </p:nvSpPr>
        <p:spPr>
          <a:xfrm>
            <a:off x="895350" y="2181225"/>
            <a:ext cx="4857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650" b="1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650" b="1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650" b="1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650" b="1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650" b="1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650" b="1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650" b="1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650" b="1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650" b="1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650" b="1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l">
              <a:buNone/>
              <a:defRPr sz="1650" b="1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pPr>
            <a:r>
              <a:rPr sz="1650" b="1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POST  /api/requests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31743B43-A61C-49AF-86F9-9713394A2BE3}"/>
              </a:ext>
            </a:extLst>
          </p:cNvPr>
          <p:cNvSpPr>
            <a:spLocks noGrp="1"/>
          </p:cNvSpPr>
          <p:nvPr/>
        </p:nvSpPr>
        <p:spPr>
          <a:xfrm>
            <a:off x="895350" y="2667000"/>
            <a:ext cx="4857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978A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Ожидаем 422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2169088-7501-4C37-9D9B-5A8BBCBF2599}"/>
              </a:ext>
            </a:extLst>
          </p:cNvPr>
          <p:cNvSpPr>
            <a:spLocks noGrp="1"/>
          </p:cNvSpPr>
          <p:nvPr/>
        </p:nvSpPr>
        <p:spPr>
          <a:xfrm>
            <a:off x="895350" y="3152775"/>
            <a:ext cx="48577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Отправьте пустой title. В ответе найдите сообщение для поля. Новая строка не должна появиться в базе.</a:t>
            </a: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6A2DE33C-07CC-4508-B330-4459CB2788EF}"/>
              </a:ext>
            </a:extLst>
          </p:cNvPr>
          <p:cNvSpPr>
            <a:spLocks noGrp="1"/>
          </p:cNvSpPr>
          <p:nvPr/>
        </p:nvSpPr>
        <p:spPr>
          <a:xfrm>
            <a:off x="6210300" y="1524000"/>
            <a:ext cx="5295900" cy="2905125"/>
          </a:xfrm>
          <a:prstGeom prst="roundRect">
            <a:avLst>
              <a:gd name="adj" fmla="val 2623"/>
            </a:avLst>
          </a:prstGeom>
          <a:solidFill>
            <a:srgbClr val="FFF8E9"/>
          </a:solidFill>
          <a:ln w="0">
            <a:noFill/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52764083-C500-4F0B-A8A2-F6CD36DA39E7}"/>
              </a:ext>
            </a:extLst>
          </p:cNvPr>
          <p:cNvSpPr>
            <a:spLocks noGrp="1"/>
          </p:cNvSpPr>
          <p:nvPr/>
        </p:nvSpPr>
        <p:spPr>
          <a:xfrm>
            <a:off x="6419850" y="1714500"/>
            <a:ext cx="4857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978A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Недопустимый статус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C464A4F2-16BD-4160-B616-67FCB23B0821}"/>
              </a:ext>
            </a:extLst>
          </p:cNvPr>
          <p:cNvSpPr>
            <a:spLocks noGrp="1"/>
          </p:cNvSpPr>
          <p:nvPr/>
        </p:nvSpPr>
        <p:spPr>
          <a:xfrm>
            <a:off x="6419850" y="2181225"/>
            <a:ext cx="4857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650" b="1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650" b="1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650" b="1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650" b="1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650" b="1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650" b="1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650" b="1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650" b="1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650" b="1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650" b="1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l">
              <a:buNone/>
              <a:defRPr sz="1650" b="1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pPr>
            <a:r>
              <a:rPr sz="1650" b="1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PATCH  /api/requests/{id}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7481C2E5-BFBD-488D-B25B-5A539A7A0311}"/>
              </a:ext>
            </a:extLst>
          </p:cNvPr>
          <p:cNvSpPr>
            <a:spLocks noGrp="1"/>
          </p:cNvSpPr>
          <p:nvPr/>
        </p:nvSpPr>
        <p:spPr>
          <a:xfrm>
            <a:off x="6419850" y="2667000"/>
            <a:ext cx="4857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978A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Ожидаем 422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92827972-2448-4A01-8A26-56AFFD09E908}"/>
              </a:ext>
            </a:extLst>
          </p:cNvPr>
          <p:cNvSpPr>
            <a:spLocks noGrp="1"/>
          </p:cNvSpPr>
          <p:nvPr/>
        </p:nvSpPr>
        <p:spPr>
          <a:xfrm>
            <a:off x="6419850" y="3152775"/>
            <a:ext cx="48577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Отправьте status=waiting, затем повторите GET того же id. Состояние должно остаться прежним.</a:t>
            </a: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2CC22B21-03F5-48A3-B53C-298F28F61E1C}"/>
              </a:ext>
            </a:extLst>
          </p:cNvPr>
          <p:cNvSpPr>
            <a:spLocks noGrp="1"/>
          </p:cNvSpPr>
          <p:nvPr/>
        </p:nvSpPr>
        <p:spPr>
          <a:xfrm>
            <a:off x="685800" y="4667250"/>
            <a:ext cx="10820400" cy="1095375"/>
          </a:xfrm>
          <a:prstGeom prst="roundRect">
            <a:avLst>
              <a:gd name="adj" fmla="val 6957"/>
            </a:avLst>
          </a:prstGeom>
          <a:solidFill>
            <a:srgbClr val="E9F5EF"/>
          </a:solidFill>
          <a:ln w="0">
            <a:noFill/>
            <a:prstDash val="solid"/>
          </a:ln>
        </p:spPr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24554A2F-5799-4B64-A001-EB9672E4804C}"/>
              </a:ext>
            </a:extLst>
          </p:cNvPr>
          <p:cNvSpPr>
            <a:spLocks noGrp="1"/>
          </p:cNvSpPr>
          <p:nvPr/>
        </p:nvSpPr>
        <p:spPr>
          <a:xfrm>
            <a:off x="895350" y="4829175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978A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Проверка понимания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E7DB9186-B5EF-4DDB-A66A-2884BD95DDF2}"/>
              </a:ext>
            </a:extLst>
          </p:cNvPr>
          <p:cNvSpPr>
            <a:spLocks noGrp="1"/>
          </p:cNvSpPr>
          <p:nvPr/>
        </p:nvSpPr>
        <p:spPr>
          <a:xfrm>
            <a:off x="3381375" y="4800600"/>
            <a:ext cx="78105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Если запрос получил 422, какие два места нужно проверить: тело ошибки и состояние ресурса после неё.</a:t>
            </a:r>
          </a:p>
        </p:txBody>
      </p:sp>
    </p:spTree>
    <p:extLst>
      <p:ext uri="{BB962C8B-B14F-4D97-AF65-F5344CB8AC3E}">
        <p14:creationId xmlns:p14="http://schemas.microsoft.com/office/powerpoint/2010/main" val="14105363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Прямоугольник: скругленные углы 27">
            <a:extLst>
              <a:ext uri="{FF2B5EF4-FFF2-40B4-BE49-F238E27FC236}">
                <a16:creationId xmlns:a16="http://schemas.microsoft.com/office/drawing/2014/main" id="{F77D01F5-B333-4042-AE7B-1E1565B7F8E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oundRect">
            <a:avLst>
              <a:gd name="adj" fmla="val 50000"/>
            </a:avLst>
          </a:prstGeom>
          <a:solidFill>
            <a:srgbClr val="3978A8"/>
          </a:solidFill>
          <a:ln w="0">
            <a:noFill/>
            <a:prstDash val="solid"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00488BB-DF76-4094-8DEE-93035EFD0B64}"/>
              </a:ext>
            </a:extLst>
          </p:cNvPr>
          <p:cNvSpPr>
            <a:spLocks noGrp="1"/>
          </p:cNvSpPr>
          <p:nvPr/>
        </p:nvSpPr>
        <p:spPr>
          <a:xfrm>
            <a:off x="685800" y="276225"/>
            <a:ext cx="10820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978A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ЗАНЯТИЕ 3 · ВАЛИДАЦИЯ И ОШИБКИ API · АНАЛИЗ ОТВЕТОВ API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D2CC703B-AF1B-4CA8-9847-0F86635CA07B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108204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Различаем причины отказа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E31E3336-7911-49C7-8634-2221E8E7B79D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7143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 fontScale="97222" lnSpcReduction="10000"/>
          </a:bodyPr>
          <a:lstStyle>
            <a:defPPr algn="l"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77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МДК.09.01 · REST API на Laravel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B4A0F43-817D-4864-AFC9-05845F089B82}"/>
              </a:ext>
            </a:extLst>
          </p:cNvPr>
          <p:cNvSpPr>
            <a:spLocks noGrp="1"/>
          </p:cNvSpPr>
          <p:nvPr/>
        </p:nvSpPr>
        <p:spPr>
          <a:xfrm>
            <a:off x="10572750" y="6496050"/>
            <a:ext cx="95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 fontScale="97222" lnSpcReduction="10000"/>
          </a:bodyPr>
          <a:lstStyle>
            <a:defPPr algn="r"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2677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08 / 11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E6AD74AD-F84E-4E3B-A7CB-35CE1D2158C7}"/>
              </a:ext>
            </a:extLst>
          </p:cNvPr>
          <p:cNvSpPr>
            <a:spLocks noGrp="1"/>
          </p:cNvSpPr>
          <p:nvPr/>
        </p:nvSpPr>
        <p:spPr>
          <a:xfrm>
            <a:off x="685800" y="1952625"/>
            <a:ext cx="2476500" cy="2190750"/>
          </a:xfrm>
          <a:prstGeom prst="roundRect">
            <a:avLst>
              <a:gd name="adj" fmla="val 3478"/>
            </a:avLst>
          </a:prstGeom>
          <a:solidFill>
            <a:srgbClr val="EAF4F8"/>
          </a:solidFill>
          <a:ln w="0">
            <a:noFill/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0C1C2C81-ABCC-4823-A300-3679A654407E}"/>
              </a:ext>
            </a:extLst>
          </p:cNvPr>
          <p:cNvSpPr>
            <a:spLocks noGrp="1"/>
          </p:cNvSpPr>
          <p:nvPr/>
        </p:nvSpPr>
        <p:spPr>
          <a:xfrm>
            <a:off x="876300" y="2114550"/>
            <a:ext cx="4286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650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650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50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50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50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50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50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50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50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50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650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9B8C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01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DFE82B4D-2AB6-4905-A839-E56B2A31A39C}"/>
              </a:ext>
            </a:extLst>
          </p:cNvPr>
          <p:cNvSpPr>
            <a:spLocks noGrp="1"/>
          </p:cNvSpPr>
          <p:nvPr/>
        </p:nvSpPr>
        <p:spPr>
          <a:xfrm>
            <a:off x="876300" y="2552700"/>
            <a:ext cx="2095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978A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422 · Данные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DF919D4C-5A46-42B8-BD53-15FA6C5D5A01}"/>
              </a:ext>
            </a:extLst>
          </p:cNvPr>
          <p:cNvSpPr>
            <a:spLocks noGrp="1"/>
          </p:cNvSpPr>
          <p:nvPr/>
        </p:nvSpPr>
        <p:spPr>
          <a:xfrm>
            <a:off x="876300" y="3086100"/>
            <a:ext cx="20955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2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Поле пустое или значение не входит в разрешённый набор.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9721863E-97D3-49E8-879F-A407D0F55E24}"/>
              </a:ext>
            </a:extLst>
          </p:cNvPr>
          <p:cNvSpPr>
            <a:spLocks noGrp="1"/>
          </p:cNvSpPr>
          <p:nvPr/>
        </p:nvSpPr>
        <p:spPr>
          <a:xfrm>
            <a:off x="3190875" y="2733675"/>
            <a:ext cx="266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 fontScale="94203"/>
          </a:bodyPr>
          <a:lstStyle>
            <a:defPPr algn="l">
              <a:defRPr sz="1725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725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725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725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725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725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725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725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725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725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725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69B8C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CD140ED3-CBED-4B23-BFC9-36B4398629FA}"/>
              </a:ext>
            </a:extLst>
          </p:cNvPr>
          <p:cNvSpPr>
            <a:spLocks noGrp="1"/>
          </p:cNvSpPr>
          <p:nvPr/>
        </p:nvSpPr>
        <p:spPr>
          <a:xfrm>
            <a:off x="3409950" y="1952625"/>
            <a:ext cx="2476500" cy="2190750"/>
          </a:xfrm>
          <a:prstGeom prst="roundRect">
            <a:avLst>
              <a:gd name="adj" fmla="val 3478"/>
            </a:avLst>
          </a:prstGeom>
          <a:solidFill>
            <a:srgbClr val="E9F5EF"/>
          </a:solidFill>
          <a:ln w="0">
            <a:noFill/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D307B95D-1F80-462A-9E07-F21D1E321130}"/>
              </a:ext>
            </a:extLst>
          </p:cNvPr>
          <p:cNvSpPr>
            <a:spLocks noGrp="1"/>
          </p:cNvSpPr>
          <p:nvPr/>
        </p:nvSpPr>
        <p:spPr>
          <a:xfrm>
            <a:off x="3600450" y="2114550"/>
            <a:ext cx="4286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650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650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50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50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50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50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50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50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50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50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650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9B8C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02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6C74E246-BE07-4102-9F05-02E47EF9BCCA}"/>
              </a:ext>
            </a:extLst>
          </p:cNvPr>
          <p:cNvSpPr>
            <a:spLocks noGrp="1"/>
          </p:cNvSpPr>
          <p:nvPr/>
        </p:nvSpPr>
        <p:spPr>
          <a:xfrm>
            <a:off x="3600450" y="2552700"/>
            <a:ext cx="2095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 fontScale="95833"/>
          </a:bodyPr>
          <a:lstStyle>
            <a:defPPr algn="l"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978A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Проверка Form Request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5DA3AF30-53DA-44C7-80B3-A32E5C2B952C}"/>
              </a:ext>
            </a:extLst>
          </p:cNvPr>
          <p:cNvSpPr>
            <a:spLocks noGrp="1"/>
          </p:cNvSpPr>
          <p:nvPr/>
        </p:nvSpPr>
        <p:spPr>
          <a:xfrm>
            <a:off x="3600450" y="3086100"/>
            <a:ext cx="20955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2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Правила выполняются до сохранения модели.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3F8A1AC3-8800-46CC-9CBE-41B21CFD6E2E}"/>
              </a:ext>
            </a:extLst>
          </p:cNvPr>
          <p:cNvSpPr>
            <a:spLocks noGrp="1"/>
          </p:cNvSpPr>
          <p:nvPr/>
        </p:nvSpPr>
        <p:spPr>
          <a:xfrm>
            <a:off x="5915025" y="2733675"/>
            <a:ext cx="266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 fontScale="94203"/>
          </a:bodyPr>
          <a:lstStyle>
            <a:defPPr algn="l">
              <a:defRPr sz="1725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725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725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725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725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725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725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725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725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725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725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69B8C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158E8E6D-A9FB-4A21-9065-61BE1ADFDF82}"/>
              </a:ext>
            </a:extLst>
          </p:cNvPr>
          <p:cNvSpPr>
            <a:spLocks noGrp="1"/>
          </p:cNvSpPr>
          <p:nvPr/>
        </p:nvSpPr>
        <p:spPr>
          <a:xfrm>
            <a:off x="6134100" y="1952625"/>
            <a:ext cx="2476500" cy="2190750"/>
          </a:xfrm>
          <a:prstGeom prst="roundRect">
            <a:avLst>
              <a:gd name="adj" fmla="val 3478"/>
            </a:avLst>
          </a:prstGeom>
          <a:solidFill>
            <a:srgbClr val="FFF8E9"/>
          </a:solidFill>
          <a:ln w="0">
            <a:noFill/>
            <a:prstDash val="solid"/>
          </a:ln>
        </p:spPr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59055E71-2817-439F-BCD2-DC2FCE07BC96}"/>
              </a:ext>
            </a:extLst>
          </p:cNvPr>
          <p:cNvSpPr>
            <a:spLocks noGrp="1"/>
          </p:cNvSpPr>
          <p:nvPr/>
        </p:nvSpPr>
        <p:spPr>
          <a:xfrm>
            <a:off x="6324600" y="2114550"/>
            <a:ext cx="4286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650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650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50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50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50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50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50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50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50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50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650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9B8C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03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8A2491B8-4496-49E5-84D6-5D30F78DD310}"/>
              </a:ext>
            </a:extLst>
          </p:cNvPr>
          <p:cNvSpPr>
            <a:spLocks noGrp="1"/>
          </p:cNvSpPr>
          <p:nvPr/>
        </p:nvSpPr>
        <p:spPr>
          <a:xfrm>
            <a:off x="6324600" y="2552700"/>
            <a:ext cx="2095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978A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404 · Ресурс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1804002F-D8D1-4EFA-BFAD-BC45CBEBDB98}"/>
              </a:ext>
            </a:extLst>
          </p:cNvPr>
          <p:cNvSpPr>
            <a:spLocks noGrp="1"/>
          </p:cNvSpPr>
          <p:nvPr/>
        </p:nvSpPr>
        <p:spPr>
          <a:xfrm>
            <a:off x="6324600" y="3086100"/>
            <a:ext cx="20955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2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Запрошенного id нет в базе; findOrFail приводит к 404.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7746ACAE-7B29-464A-AFF1-6C592E7F86E8}"/>
              </a:ext>
            </a:extLst>
          </p:cNvPr>
          <p:cNvSpPr>
            <a:spLocks noGrp="1"/>
          </p:cNvSpPr>
          <p:nvPr/>
        </p:nvSpPr>
        <p:spPr>
          <a:xfrm>
            <a:off x="8639175" y="2733675"/>
            <a:ext cx="266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 fontScale="94203"/>
          </a:bodyPr>
          <a:lstStyle>
            <a:defPPr algn="l">
              <a:defRPr sz="1725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725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725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725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725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725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725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725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725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725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725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69B8C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A9F93F70-EEE3-4B83-A03B-312F82D8C22D}"/>
              </a:ext>
            </a:extLst>
          </p:cNvPr>
          <p:cNvSpPr>
            <a:spLocks noGrp="1"/>
          </p:cNvSpPr>
          <p:nvPr/>
        </p:nvSpPr>
        <p:spPr>
          <a:xfrm>
            <a:off x="8858250" y="1952625"/>
            <a:ext cx="2476500" cy="2190750"/>
          </a:xfrm>
          <a:prstGeom prst="roundRect">
            <a:avLst>
              <a:gd name="adj" fmla="val 3478"/>
            </a:avLst>
          </a:prstGeom>
          <a:solidFill>
            <a:srgbClr val="F2F5F7"/>
          </a:solidFill>
          <a:ln w="0">
            <a:noFill/>
            <a:prstDash val="solid"/>
          </a:ln>
        </p:spPr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84F3BBC2-E469-44CF-B382-807CE1F96B4D}"/>
              </a:ext>
            </a:extLst>
          </p:cNvPr>
          <p:cNvSpPr>
            <a:spLocks noGrp="1"/>
          </p:cNvSpPr>
          <p:nvPr/>
        </p:nvSpPr>
        <p:spPr>
          <a:xfrm>
            <a:off x="9048750" y="2114550"/>
            <a:ext cx="4286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650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650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50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50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50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50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50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50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50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50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650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9B8C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04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E335C532-2EBF-4644-95AF-867B9FAE627A}"/>
              </a:ext>
            </a:extLst>
          </p:cNvPr>
          <p:cNvSpPr>
            <a:spLocks noGrp="1"/>
          </p:cNvSpPr>
          <p:nvPr/>
        </p:nvSpPr>
        <p:spPr>
          <a:xfrm>
            <a:off x="9048750" y="2552700"/>
            <a:ext cx="2095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978A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Ответ клиенту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6F91A179-E697-45EB-9B1A-8546E1505158}"/>
              </a:ext>
            </a:extLst>
          </p:cNvPr>
          <p:cNvSpPr>
            <a:spLocks noGrp="1"/>
          </p:cNvSpPr>
          <p:nvPr/>
        </p:nvSpPr>
        <p:spPr>
          <a:xfrm>
            <a:off x="9048750" y="3086100"/>
            <a:ext cx="20955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2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Статус и поле errors подсказывают, что исправить.</a:t>
            </a:r>
          </a:p>
        </p:txBody>
      </p:sp>
      <p:sp>
        <p:nvSpPr>
          <p:cNvPr id="25" name="Прямоугольник: скругленные углы 24">
            <a:extLst>
              <a:ext uri="{FF2B5EF4-FFF2-40B4-BE49-F238E27FC236}">
                <a16:creationId xmlns:a16="http://schemas.microsoft.com/office/drawing/2014/main" id="{460C6D26-E729-40B2-A370-CF58BDF0EF20}"/>
              </a:ext>
            </a:extLst>
          </p:cNvPr>
          <p:cNvSpPr>
            <a:spLocks noGrp="1"/>
          </p:cNvSpPr>
          <p:nvPr/>
        </p:nvSpPr>
        <p:spPr>
          <a:xfrm>
            <a:off x="685800" y="4495800"/>
            <a:ext cx="10820400" cy="1200150"/>
          </a:xfrm>
          <a:prstGeom prst="roundRect">
            <a:avLst>
              <a:gd name="adj" fmla="val 6349"/>
            </a:avLst>
          </a:prstGeom>
          <a:solidFill>
            <a:srgbClr val="EAF4F8"/>
          </a:solidFill>
          <a:ln w="0">
            <a:noFill/>
            <a:prstDash val="solid"/>
          </a:ln>
        </p:spPr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C4006DB7-515D-4560-90A3-B179B20D7878}"/>
              </a:ext>
            </a:extLst>
          </p:cNvPr>
          <p:cNvSpPr>
            <a:spLocks noGrp="1"/>
          </p:cNvSpPr>
          <p:nvPr/>
        </p:nvSpPr>
        <p:spPr>
          <a:xfrm>
            <a:off x="914400" y="4676775"/>
            <a:ext cx="190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978A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Связь этапов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D437827A-F351-40C9-9840-62973E950439}"/>
              </a:ext>
            </a:extLst>
          </p:cNvPr>
          <p:cNvSpPr>
            <a:spLocks noGrp="1"/>
          </p:cNvSpPr>
          <p:nvPr/>
        </p:nvSpPr>
        <p:spPr>
          <a:xfrm>
            <a:off x="2714625" y="4629150"/>
            <a:ext cx="84772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500" b="0" dirty="0" err="1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Не</a:t>
            </a:r>
            <a:r>
              <a:rPr sz="1500" b="0" dirty="0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00" b="0" dirty="0" err="1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называйте</a:t>
            </a:r>
            <a:r>
              <a:rPr sz="1500" b="0" dirty="0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422 и 404 </a:t>
            </a:r>
            <a:r>
              <a:rPr sz="1500" b="0" dirty="0" err="1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одной</a:t>
            </a:r>
            <a:r>
              <a:rPr sz="1500" b="0" dirty="0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«</a:t>
            </a:r>
            <a:r>
              <a:rPr sz="1500" b="0" dirty="0" err="1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ошибкой</a:t>
            </a:r>
            <a:r>
              <a:rPr sz="1500" b="0" dirty="0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00" b="0" dirty="0" err="1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запроса</a:t>
            </a:r>
            <a:r>
              <a:rPr sz="1500" b="0" dirty="0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»: </a:t>
            </a:r>
            <a:r>
              <a:rPr sz="1500" b="0" dirty="0" err="1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первая</a:t>
            </a:r>
            <a:r>
              <a:rPr sz="1500" b="0" dirty="0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00" b="0" dirty="0" err="1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связана</a:t>
            </a:r>
            <a:r>
              <a:rPr sz="1500" b="0" dirty="0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с </a:t>
            </a:r>
            <a:r>
              <a:rPr sz="1500" b="0" dirty="0" err="1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данными</a:t>
            </a:r>
            <a:r>
              <a:rPr sz="1500" b="0" dirty="0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sz="1500" b="0" dirty="0" err="1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вторая</a:t>
            </a:r>
            <a:r>
              <a:rPr sz="1500" b="0" dirty="0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–</a:t>
            </a:r>
            <a:r>
              <a:rPr sz="1500" b="0" dirty="0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с </a:t>
            </a:r>
            <a:r>
              <a:rPr sz="1500" b="0" dirty="0" err="1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отсутствующей</a:t>
            </a:r>
            <a:r>
              <a:rPr sz="1500" b="0" dirty="0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00" b="0" dirty="0" err="1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записью</a:t>
            </a:r>
            <a:r>
              <a:rPr sz="1500" b="0" dirty="0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0775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417494CA-174A-416B-B416-8D164707E41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oundRect">
            <a:avLst>
              <a:gd name="adj" fmla="val 50000"/>
            </a:avLst>
          </a:prstGeom>
          <a:solidFill>
            <a:srgbClr val="3978A8"/>
          </a:solidFill>
          <a:ln w="0">
            <a:noFill/>
            <a:prstDash val="solid"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E18433CC-DC51-405C-9ED6-89D32AC74C6A}"/>
              </a:ext>
            </a:extLst>
          </p:cNvPr>
          <p:cNvSpPr>
            <a:spLocks noGrp="1"/>
          </p:cNvSpPr>
          <p:nvPr/>
        </p:nvSpPr>
        <p:spPr>
          <a:xfrm>
            <a:off x="685800" y="276225"/>
            <a:ext cx="10820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978A8"/>
                </a:solidFill>
                <a:latin typeface="Arial"/>
                <a:ea typeface="Arial"/>
                <a:cs typeface="Arial"/>
              </a:rPr>
              <a:t>ЗАНЯТИЕ 3 · ВАЛИДАЦИЯ И ОШИБКИ API · ОБСУЖДЕНИЕ · ПРОФИЛАКТИКА ОШИБОК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CC3625A5-EB19-4DE0-94B7-9D4FC5695E23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108204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24364B"/>
                </a:solidFill>
                <a:latin typeface="Arial"/>
                <a:ea typeface="Arial"/>
                <a:cs typeface="Arial"/>
              </a:rPr>
              <a:t>Безопасность и корректная граница проверки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D5BF6AB-94C2-4917-A5CC-D486EF52F733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7143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 fontScale="97222"/>
          </a:bodyPr>
          <a:lstStyle>
            <a:defPPr algn="l"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77C"/>
                </a:solidFill>
                <a:latin typeface="Arial"/>
                <a:ea typeface="Arial"/>
                <a:cs typeface="Arial"/>
              </a:rPr>
              <a:t>МДК.09.01 · REST API на Laravel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E0584EE-ECA9-4DF1-917E-07F813914CDE}"/>
              </a:ext>
            </a:extLst>
          </p:cNvPr>
          <p:cNvSpPr>
            <a:spLocks noGrp="1"/>
          </p:cNvSpPr>
          <p:nvPr/>
        </p:nvSpPr>
        <p:spPr>
          <a:xfrm>
            <a:off x="10572750" y="6496050"/>
            <a:ext cx="95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 fontScale="97222"/>
          </a:bodyPr>
          <a:lstStyle>
            <a:defPPr algn="r"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2677C"/>
                </a:solidFill>
                <a:latin typeface="Arial"/>
                <a:ea typeface="Arial"/>
                <a:cs typeface="Arial"/>
              </a:rPr>
              <a:t>09 / 11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B006C9D3-9D14-43E9-BC81-E760D4C44F93}"/>
              </a:ext>
            </a:extLst>
          </p:cNvPr>
          <p:cNvSpPr>
            <a:spLocks noGrp="1"/>
          </p:cNvSpPr>
          <p:nvPr/>
        </p:nvSpPr>
        <p:spPr>
          <a:xfrm>
            <a:off x="685800" y="1581150"/>
            <a:ext cx="3371850" cy="3143250"/>
          </a:xfrm>
          <a:prstGeom prst="roundRect">
            <a:avLst>
              <a:gd name="adj" fmla="val 2424"/>
            </a:avLst>
          </a:prstGeom>
          <a:solidFill>
            <a:srgbClr val="FFF8E9"/>
          </a:solidFill>
          <a:ln w="0">
            <a:noFill/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81ABB09D-23A4-43A6-9601-859E86A5B83F}"/>
              </a:ext>
            </a:extLst>
          </p:cNvPr>
          <p:cNvSpPr>
            <a:spLocks noGrp="1"/>
          </p:cNvSpPr>
          <p:nvPr/>
        </p:nvSpPr>
        <p:spPr>
          <a:xfrm>
            <a:off x="876300" y="1733550"/>
            <a:ext cx="2990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978A8"/>
                </a:solidFill>
                <a:latin typeface="Arial"/>
                <a:ea typeface="Arial"/>
                <a:cs typeface="Arial"/>
              </a:rPr>
              <a:t>Клиенту не доверяют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0CB64FA4-1FFE-4438-8DDF-875C00E462F9}"/>
              </a:ext>
            </a:extLst>
          </p:cNvPr>
          <p:cNvSpPr>
            <a:spLocks noGrp="1"/>
          </p:cNvSpPr>
          <p:nvPr/>
        </p:nvSpPr>
        <p:spPr>
          <a:xfrm>
            <a:off x="876300" y="2076450"/>
            <a:ext cx="2990850" cy="2533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Все запросы можно изменить вручную. Сервер проверяет каждое внешнее значение независимо от ограничений интерфейса.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7E46FC4F-A03B-4551-A091-84946F8C923D}"/>
              </a:ext>
            </a:extLst>
          </p:cNvPr>
          <p:cNvSpPr>
            <a:spLocks noGrp="1"/>
          </p:cNvSpPr>
          <p:nvPr/>
        </p:nvSpPr>
        <p:spPr>
          <a:xfrm>
            <a:off x="4286250" y="1581150"/>
            <a:ext cx="3371850" cy="3143250"/>
          </a:xfrm>
          <a:prstGeom prst="roundRect">
            <a:avLst>
              <a:gd name="adj" fmla="val 2424"/>
            </a:avLst>
          </a:prstGeom>
          <a:solidFill>
            <a:srgbClr val="EAF4F8"/>
          </a:solidFill>
          <a:ln w="0">
            <a:noFill/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5EF206FD-36E1-43B5-BD8F-C6D91D65F8AF}"/>
              </a:ext>
            </a:extLst>
          </p:cNvPr>
          <p:cNvSpPr>
            <a:spLocks noGrp="1"/>
          </p:cNvSpPr>
          <p:nvPr/>
        </p:nvSpPr>
        <p:spPr>
          <a:xfrm>
            <a:off x="4476750" y="1733550"/>
            <a:ext cx="2990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978A8"/>
                </a:solidFill>
                <a:latin typeface="Arial"/>
                <a:ea typeface="Arial"/>
                <a:cs typeface="Arial"/>
              </a:rPr>
              <a:t>Проверка не выдаёт права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5A992170-363C-4C7A-BDDC-4373A331AD06}"/>
              </a:ext>
            </a:extLst>
          </p:cNvPr>
          <p:cNvSpPr>
            <a:spLocks noGrp="1"/>
          </p:cNvSpPr>
          <p:nvPr/>
        </p:nvSpPr>
        <p:spPr>
          <a:xfrm>
            <a:off x="4476750" y="2076450"/>
            <a:ext cx="2990850" cy="2533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Form Request rules() отвечает за значения. authorize(), middleware или policy отвечают за доступ к действию.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365CE959-206E-4E72-96E3-FB2BA0B2E871}"/>
              </a:ext>
            </a:extLst>
          </p:cNvPr>
          <p:cNvSpPr>
            <a:spLocks noGrp="1"/>
          </p:cNvSpPr>
          <p:nvPr/>
        </p:nvSpPr>
        <p:spPr>
          <a:xfrm>
            <a:off x="7886700" y="1581150"/>
            <a:ext cx="3371850" cy="3143250"/>
          </a:xfrm>
          <a:prstGeom prst="roundRect">
            <a:avLst>
              <a:gd name="adj" fmla="val 2424"/>
            </a:avLst>
          </a:prstGeom>
          <a:solidFill>
            <a:srgbClr val="E9F5EF"/>
          </a:solidFill>
          <a:ln w="0">
            <a:noFill/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155E3E7E-043E-4BCD-A6C3-F880A611D228}"/>
              </a:ext>
            </a:extLst>
          </p:cNvPr>
          <p:cNvSpPr>
            <a:spLocks noGrp="1"/>
          </p:cNvSpPr>
          <p:nvPr/>
        </p:nvSpPr>
        <p:spPr>
          <a:xfrm>
            <a:off x="8077200" y="1733550"/>
            <a:ext cx="2990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 fontScale="79053"/>
          </a:bodyPr>
          <a:lstStyle>
            <a:defPPr algn="l"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978A8"/>
                </a:solidFill>
                <a:latin typeface="Arial"/>
                <a:ea typeface="Arial"/>
                <a:cs typeface="Arial"/>
              </a:rPr>
              <a:t>Ошибка не раскрывает устройство сервера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A77E50F6-FF69-41C1-9492-25D7E58E1A86}"/>
              </a:ext>
            </a:extLst>
          </p:cNvPr>
          <p:cNvSpPr>
            <a:spLocks noGrp="1"/>
          </p:cNvSpPr>
          <p:nvPr/>
        </p:nvSpPr>
        <p:spPr>
          <a:xfrm>
            <a:off x="8077200" y="2076450"/>
            <a:ext cx="2990850" cy="2533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Возвращайте понятные ошибки полей, не включайте пароли, SQL, пути и трассировку исключений.</a:t>
            </a: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4A918DA0-7654-402E-B3C0-D35C07DC832C}"/>
              </a:ext>
            </a:extLst>
          </p:cNvPr>
          <p:cNvSpPr>
            <a:spLocks noGrp="1"/>
          </p:cNvSpPr>
          <p:nvPr/>
        </p:nvSpPr>
        <p:spPr>
          <a:xfrm>
            <a:off x="685800" y="4953000"/>
            <a:ext cx="10820400" cy="876300"/>
          </a:xfrm>
          <a:prstGeom prst="roundRect">
            <a:avLst>
              <a:gd name="adj" fmla="val 8696"/>
            </a:avLst>
          </a:prstGeom>
          <a:solidFill>
            <a:srgbClr val="F2F5F7"/>
          </a:solidFill>
          <a:ln w="0">
            <a:noFill/>
            <a:prstDash val="solid"/>
          </a:ln>
        </p:spPr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9C43E60B-8AF2-4A77-B5E1-004A16F478AB}"/>
              </a:ext>
            </a:extLst>
          </p:cNvPr>
          <p:cNvSpPr>
            <a:spLocks noGrp="1"/>
          </p:cNvSpPr>
          <p:nvPr/>
        </p:nvSpPr>
        <p:spPr>
          <a:xfrm>
            <a:off x="895350" y="5153025"/>
            <a:ext cx="2000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978A8"/>
                </a:solidFill>
                <a:latin typeface="Arial"/>
                <a:ea typeface="Arial"/>
                <a:cs typeface="Arial"/>
              </a:rPr>
              <a:t>Вопрос группе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DD816B73-593F-4004-A98A-EFCB1CDB6C85}"/>
              </a:ext>
            </a:extLst>
          </p:cNvPr>
          <p:cNvSpPr>
            <a:spLocks noGrp="1"/>
          </p:cNvSpPr>
          <p:nvPr/>
        </p:nvSpPr>
        <p:spPr>
          <a:xfrm>
            <a:off x="2762250" y="5095875"/>
            <a:ext cx="8477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Почему authorize(): true допустим в учебном примере, но недостаточен для закрытого сервиса?</a:t>
            </a:r>
          </a:p>
        </p:txBody>
      </p:sp>
    </p:spTree>
    <p:extLst>
      <p:ext uri="{BB962C8B-B14F-4D97-AF65-F5344CB8AC3E}">
        <p14:creationId xmlns:p14="http://schemas.microsoft.com/office/powerpoint/2010/main" val="15659517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9B4FD045-C908-4E04-9B03-926F3651A68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oundRect">
            <a:avLst>
              <a:gd name="adj" fmla="val 50000"/>
            </a:avLst>
          </a:prstGeom>
          <a:solidFill>
            <a:srgbClr val="3978A8"/>
          </a:solidFill>
          <a:ln w="0">
            <a:noFill/>
            <a:prstDash val="solid"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EB5822C-68BF-4A10-8F40-FB88E6325DF6}"/>
              </a:ext>
            </a:extLst>
          </p:cNvPr>
          <p:cNvSpPr>
            <a:spLocks noGrp="1"/>
          </p:cNvSpPr>
          <p:nvPr/>
        </p:nvSpPr>
        <p:spPr>
          <a:xfrm>
            <a:off x="685800" y="276225"/>
            <a:ext cx="10820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978A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ЗАНЯТИЕ 3 · ВАЛИДАЦИЯ И ОШИБКИ API · ПРАКТИКА · 422 И 404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91AC056-6CE1-4887-9347-8BE062FF0342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108204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Переход к практике в приложении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773DF23-B821-4B1D-A83F-01C42E101E82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7143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 fontScale="97222" lnSpcReduction="10000"/>
          </a:bodyPr>
          <a:lstStyle>
            <a:defPPr algn="l"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77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МДК.09.01 · REST API на Laravel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84F46B72-28AC-4636-BFB4-919061D6179C}"/>
              </a:ext>
            </a:extLst>
          </p:cNvPr>
          <p:cNvSpPr>
            <a:spLocks noGrp="1"/>
          </p:cNvSpPr>
          <p:nvPr/>
        </p:nvSpPr>
        <p:spPr>
          <a:xfrm>
            <a:off x="10572750" y="6496050"/>
            <a:ext cx="95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 fontScale="97222" lnSpcReduction="10000"/>
          </a:bodyPr>
          <a:lstStyle>
            <a:defPPr algn="r"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2677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 / 11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4E3EE362-EA69-4D0A-A229-3B1B411FF247}"/>
              </a:ext>
            </a:extLst>
          </p:cNvPr>
          <p:cNvSpPr>
            <a:spLocks noGrp="1"/>
          </p:cNvSpPr>
          <p:nvPr/>
        </p:nvSpPr>
        <p:spPr>
          <a:xfrm>
            <a:off x="685800" y="1476375"/>
            <a:ext cx="552450" cy="552450"/>
          </a:xfrm>
          <a:prstGeom prst="roundRect">
            <a:avLst>
              <a:gd name="adj" fmla="val 13793"/>
            </a:avLst>
          </a:prstGeom>
          <a:solidFill>
            <a:srgbClr val="3978A8"/>
          </a:solidFill>
          <a:ln w="0">
            <a:noFill/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B9806E45-4FA1-4723-956A-11E2CE57CED7}"/>
              </a:ext>
            </a:extLst>
          </p:cNvPr>
          <p:cNvSpPr>
            <a:spLocks noGrp="1"/>
          </p:cNvSpPr>
          <p:nvPr/>
        </p:nvSpPr>
        <p:spPr>
          <a:xfrm>
            <a:off x="866775" y="1600200"/>
            <a:ext cx="2095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CE89B7A5-D144-48BD-8071-F7E0EB80BC3D}"/>
              </a:ext>
            </a:extLst>
          </p:cNvPr>
          <p:cNvSpPr>
            <a:spLocks noGrp="1"/>
          </p:cNvSpPr>
          <p:nvPr/>
        </p:nvSpPr>
        <p:spPr>
          <a:xfrm>
            <a:off x="1476375" y="1466850"/>
            <a:ext cx="24765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978A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Form Request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76D92DC8-9916-463E-9657-6DB2ECA5576E}"/>
              </a:ext>
            </a:extLst>
          </p:cNvPr>
          <p:cNvSpPr>
            <a:spLocks noGrp="1"/>
          </p:cNvSpPr>
          <p:nvPr/>
        </p:nvSpPr>
        <p:spPr>
          <a:xfrm>
            <a:off x="4095750" y="1447800"/>
            <a:ext cx="712470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Заполните StoreApiRequest и UpdateApiRequest по требованиям задания.</a:t>
            </a: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9D43DD78-A3DA-4774-9A69-89284CCF6C39}"/>
              </a:ext>
            </a:extLst>
          </p:cNvPr>
          <p:cNvSpPr>
            <a:spLocks noGrp="1"/>
          </p:cNvSpPr>
          <p:nvPr/>
        </p:nvSpPr>
        <p:spPr>
          <a:xfrm>
            <a:off x="685800" y="2476500"/>
            <a:ext cx="552450" cy="552450"/>
          </a:xfrm>
          <a:prstGeom prst="roundRect">
            <a:avLst>
              <a:gd name="adj" fmla="val 13793"/>
            </a:avLst>
          </a:prstGeom>
          <a:solidFill>
            <a:srgbClr val="69B8C8"/>
          </a:solidFill>
          <a:ln w="0">
            <a:noFill/>
            <a:prstDash val="solid"/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A63D39F6-ECE0-48F1-A7EB-FB5B07B30EC6}"/>
              </a:ext>
            </a:extLst>
          </p:cNvPr>
          <p:cNvSpPr>
            <a:spLocks noGrp="1"/>
          </p:cNvSpPr>
          <p:nvPr/>
        </p:nvSpPr>
        <p:spPr>
          <a:xfrm>
            <a:off x="866775" y="2600325"/>
            <a:ext cx="2095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79917B69-5CBE-4BA5-8B43-280A6008E1B2}"/>
              </a:ext>
            </a:extLst>
          </p:cNvPr>
          <p:cNvSpPr>
            <a:spLocks noGrp="1"/>
          </p:cNvSpPr>
          <p:nvPr/>
        </p:nvSpPr>
        <p:spPr>
          <a:xfrm>
            <a:off x="1476375" y="2466975"/>
            <a:ext cx="24765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978A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Подключение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BE9009C7-6B8D-416E-AC42-45965809F017}"/>
              </a:ext>
            </a:extLst>
          </p:cNvPr>
          <p:cNvSpPr>
            <a:spLocks noGrp="1"/>
          </p:cNvSpPr>
          <p:nvPr/>
        </p:nvSpPr>
        <p:spPr>
          <a:xfrm>
            <a:off x="4095750" y="2447925"/>
            <a:ext cx="712470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Передайте Form Request в методы store и update; используйте validated().</a:t>
            </a: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B315B35A-B140-4644-AB55-6B56282FBD4D}"/>
              </a:ext>
            </a:extLst>
          </p:cNvPr>
          <p:cNvSpPr>
            <a:spLocks noGrp="1"/>
          </p:cNvSpPr>
          <p:nvPr/>
        </p:nvSpPr>
        <p:spPr>
          <a:xfrm>
            <a:off x="685800" y="3476625"/>
            <a:ext cx="552450" cy="552450"/>
          </a:xfrm>
          <a:prstGeom prst="roundRect">
            <a:avLst>
              <a:gd name="adj" fmla="val 13793"/>
            </a:avLst>
          </a:prstGeom>
          <a:solidFill>
            <a:srgbClr val="3978A8"/>
          </a:solidFill>
          <a:ln w="0">
            <a:noFill/>
            <a:prstDash val="solid"/>
          </a:ln>
        </p:spPr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036F5966-6D85-4CA6-A1B7-0940608C7A57}"/>
              </a:ext>
            </a:extLst>
          </p:cNvPr>
          <p:cNvSpPr>
            <a:spLocks noGrp="1"/>
          </p:cNvSpPr>
          <p:nvPr/>
        </p:nvSpPr>
        <p:spPr>
          <a:xfrm>
            <a:off x="866775" y="3600450"/>
            <a:ext cx="2095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40E2D77B-38A6-470E-86FE-33BAAC8AE379}"/>
              </a:ext>
            </a:extLst>
          </p:cNvPr>
          <p:cNvSpPr>
            <a:spLocks noGrp="1"/>
          </p:cNvSpPr>
          <p:nvPr/>
        </p:nvSpPr>
        <p:spPr>
          <a:xfrm>
            <a:off x="1476375" y="3467100"/>
            <a:ext cx="24765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978A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Bruno errors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FA591F58-0543-4CC3-85C9-B8EEFB23F6FF}"/>
              </a:ext>
            </a:extLst>
          </p:cNvPr>
          <p:cNvSpPr>
            <a:spLocks noGrp="1"/>
          </p:cNvSpPr>
          <p:nvPr/>
        </p:nvSpPr>
        <p:spPr>
          <a:xfrm>
            <a:off x="4095750" y="3448050"/>
            <a:ext cx="712470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Проверьте пустой title, недопустимый status и отсутствующий id.</a:t>
            </a:r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1DF6CDEB-7D3D-4C5F-81D2-E25025F16B0E}"/>
              </a:ext>
            </a:extLst>
          </p:cNvPr>
          <p:cNvSpPr>
            <a:spLocks noGrp="1"/>
          </p:cNvSpPr>
          <p:nvPr/>
        </p:nvSpPr>
        <p:spPr>
          <a:xfrm>
            <a:off x="685800" y="4476750"/>
            <a:ext cx="552450" cy="552450"/>
          </a:xfrm>
          <a:prstGeom prst="roundRect">
            <a:avLst>
              <a:gd name="adj" fmla="val 13793"/>
            </a:avLst>
          </a:prstGeom>
          <a:solidFill>
            <a:srgbClr val="69B8C8"/>
          </a:solidFill>
          <a:ln w="0">
            <a:noFill/>
            <a:prstDash val="solid"/>
          </a:ln>
        </p:spPr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5C3A288C-9570-4C8F-A6EC-0029BB165A74}"/>
              </a:ext>
            </a:extLst>
          </p:cNvPr>
          <p:cNvSpPr>
            <a:spLocks noGrp="1"/>
          </p:cNvSpPr>
          <p:nvPr/>
        </p:nvSpPr>
        <p:spPr>
          <a:xfrm>
            <a:off x="866775" y="4600575"/>
            <a:ext cx="2095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049BFE4B-B6AA-481D-BBD9-E9A245E938C2}"/>
              </a:ext>
            </a:extLst>
          </p:cNvPr>
          <p:cNvSpPr>
            <a:spLocks noGrp="1"/>
          </p:cNvSpPr>
          <p:nvPr/>
        </p:nvSpPr>
        <p:spPr>
          <a:xfrm>
            <a:off x="1476375" y="4467225"/>
            <a:ext cx="24765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978A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Состояние данных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79D0DE99-0FE4-4A01-BA91-4F8321C7EF42}"/>
              </a:ext>
            </a:extLst>
          </p:cNvPr>
          <p:cNvSpPr>
            <a:spLocks noGrp="1"/>
          </p:cNvSpPr>
          <p:nvPr/>
        </p:nvSpPr>
        <p:spPr>
          <a:xfrm>
            <a:off x="4095750" y="4448175"/>
            <a:ext cx="712470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После ошибочного PATCH выполните GET и убедитесь, что данные не изменились.</a:t>
            </a:r>
          </a:p>
        </p:txBody>
      </p:sp>
      <p:sp>
        <p:nvSpPr>
          <p:cNvPr id="22" name="Прямоугольник: скругленные углы 21">
            <a:extLst>
              <a:ext uri="{FF2B5EF4-FFF2-40B4-BE49-F238E27FC236}">
                <a16:creationId xmlns:a16="http://schemas.microsoft.com/office/drawing/2014/main" id="{963C62A5-88E9-4A34-8676-22E266119933}"/>
              </a:ext>
            </a:extLst>
          </p:cNvPr>
          <p:cNvSpPr>
            <a:spLocks noGrp="1"/>
          </p:cNvSpPr>
          <p:nvPr/>
        </p:nvSpPr>
        <p:spPr>
          <a:xfrm>
            <a:off x="685800" y="5667375"/>
            <a:ext cx="10820400" cy="428625"/>
          </a:xfrm>
          <a:prstGeom prst="roundRect">
            <a:avLst>
              <a:gd name="adj" fmla="val 17778"/>
            </a:avLst>
          </a:prstGeom>
          <a:solidFill>
            <a:srgbClr val="FFF8E9"/>
          </a:solidFill>
          <a:ln w="0">
            <a:noFill/>
            <a:prstDash val="solid"/>
          </a:ln>
        </p:spPr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51A98F0D-60E8-4A86-800E-A24F5DCDB8E8}"/>
              </a:ext>
            </a:extLst>
          </p:cNvPr>
          <p:cNvSpPr>
            <a:spLocks noGrp="1"/>
          </p:cNvSpPr>
          <p:nvPr/>
        </p:nvSpPr>
        <p:spPr>
          <a:xfrm>
            <a:off x="876300" y="5762625"/>
            <a:ext cx="10382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350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50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Задание и проверка практики находятся в приложении; здесь разбираются причины ожидаемых ответов.</a:t>
            </a:r>
          </a:p>
        </p:txBody>
      </p:sp>
    </p:spTree>
    <p:extLst>
      <p:ext uri="{BB962C8B-B14F-4D97-AF65-F5344CB8AC3E}">
        <p14:creationId xmlns:p14="http://schemas.microsoft.com/office/powerpoint/2010/main" val="17129421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310B14DB-1C5E-4B4D-BA94-3BDA06A3FAE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oundRect">
            <a:avLst>
              <a:gd name="adj" fmla="val 50000"/>
            </a:avLst>
          </a:prstGeom>
          <a:solidFill>
            <a:srgbClr val="3978A8"/>
          </a:solidFill>
          <a:ln w="0">
            <a:noFill/>
            <a:prstDash val="solid"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FB8227D5-A30A-4A16-8FAB-3383E78E746C}"/>
              </a:ext>
            </a:extLst>
          </p:cNvPr>
          <p:cNvSpPr>
            <a:spLocks noGrp="1"/>
          </p:cNvSpPr>
          <p:nvPr/>
        </p:nvSpPr>
        <p:spPr>
          <a:xfrm>
            <a:off x="685800" y="276225"/>
            <a:ext cx="10820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978A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ЗАНЯТИЕ 3 · ВАЛИДАЦИЯ И ОШИБКИ API · ЗАКРЕПЛЕНИЕ · РЕФЛЕКСИЯ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6978F362-CE9C-4A72-871F-C7034B7EF501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108204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Что должно остаться после занятия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FB02F12-FA5F-43EB-8E5D-C62958344078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7143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 fontScale="97222" lnSpcReduction="10000"/>
          </a:bodyPr>
          <a:lstStyle>
            <a:defPPr algn="l"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77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МДК.09.01 · REST API на Laravel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7BE9D42E-46DA-4441-8FA4-22BD679A4687}"/>
              </a:ext>
            </a:extLst>
          </p:cNvPr>
          <p:cNvSpPr>
            <a:spLocks noGrp="1"/>
          </p:cNvSpPr>
          <p:nvPr/>
        </p:nvSpPr>
        <p:spPr>
          <a:xfrm>
            <a:off x="10572750" y="6496050"/>
            <a:ext cx="95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 fontScale="97222" lnSpcReduction="10000"/>
          </a:bodyPr>
          <a:lstStyle>
            <a:defPPr algn="r"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2677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 / 11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F9020061-8E2A-4174-B330-C24720C37328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3978A8"/>
          </a:solidFill>
          <a:ln w="0">
            <a:noFill/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A1B198A-D822-466E-AA61-91354C5CBCCF}"/>
              </a:ext>
            </a:extLst>
          </p:cNvPr>
          <p:cNvSpPr>
            <a:spLocks noGrp="1"/>
          </p:cNvSpPr>
          <p:nvPr/>
        </p:nvSpPr>
        <p:spPr>
          <a:xfrm>
            <a:off x="1028700" y="1457325"/>
            <a:ext cx="6096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575" b="0" dirty="0" err="1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Валидация</a:t>
            </a:r>
            <a:r>
              <a:rPr sz="1575" b="0" dirty="0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75" b="0" dirty="0" err="1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проверяет</a:t>
            </a:r>
            <a:r>
              <a:rPr sz="1575" b="0" dirty="0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75" b="0" dirty="0" err="1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данные</a:t>
            </a:r>
            <a:r>
              <a:rPr sz="1575" b="0" dirty="0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 </a:t>
            </a:r>
            <a:r>
              <a:rPr sz="1575" b="0" dirty="0" err="1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авторизация</a:t>
            </a:r>
            <a:r>
              <a:rPr sz="1575" b="0" dirty="0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–</a:t>
            </a:r>
            <a:r>
              <a:rPr sz="1575" b="0" dirty="0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75" b="0" dirty="0" err="1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право</a:t>
            </a:r>
            <a:r>
              <a:rPr sz="1575" b="0" dirty="0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75" b="0" dirty="0" err="1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выполнить</a:t>
            </a:r>
            <a:r>
              <a:rPr sz="1575" b="0" dirty="0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75" b="0" dirty="0" err="1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действие</a:t>
            </a:r>
            <a:r>
              <a:rPr sz="1575" b="0" dirty="0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87221060-6A21-4E72-AC5B-4A2DA7E31E15}"/>
              </a:ext>
            </a:extLst>
          </p:cNvPr>
          <p:cNvSpPr>
            <a:spLocks noGrp="1"/>
          </p:cNvSpPr>
          <p:nvPr/>
        </p:nvSpPr>
        <p:spPr>
          <a:xfrm>
            <a:off x="685800" y="2552700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69B8C8"/>
          </a:solidFill>
          <a:ln w="0">
            <a:noFill/>
            <a:prstDash val="solid"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D8CACE35-CFE4-4F00-9860-EF7284FC00CA}"/>
              </a:ext>
            </a:extLst>
          </p:cNvPr>
          <p:cNvSpPr>
            <a:spLocks noGrp="1"/>
          </p:cNvSpPr>
          <p:nvPr/>
        </p:nvSpPr>
        <p:spPr>
          <a:xfrm>
            <a:off x="1028700" y="2486025"/>
            <a:ext cx="6096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575" b="0" dirty="0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Form Request </a:t>
            </a:r>
            <a:r>
              <a:rPr sz="1575" b="0" dirty="0" err="1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держит</a:t>
            </a:r>
            <a:r>
              <a:rPr sz="1575" b="0" dirty="0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75" b="0" dirty="0" err="1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правила</a:t>
            </a:r>
            <a:r>
              <a:rPr sz="1575" b="0" dirty="0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75" b="0" dirty="0" err="1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рядом</a:t>
            </a:r>
            <a:r>
              <a:rPr sz="1575" b="0" dirty="0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с </a:t>
            </a:r>
            <a:r>
              <a:rPr sz="1575" b="0" dirty="0" err="1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запросом</a:t>
            </a:r>
            <a:r>
              <a:rPr sz="1575" b="0" dirty="0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sz="1575" b="0" dirty="0" err="1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отдельно</a:t>
            </a:r>
            <a:r>
              <a:rPr sz="1575" b="0" dirty="0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75" b="0" dirty="0" err="1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от</a:t>
            </a:r>
            <a:r>
              <a:rPr sz="1575" b="0" dirty="0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75" b="0" dirty="0" err="1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логики</a:t>
            </a:r>
            <a:r>
              <a:rPr sz="1575" b="0" dirty="0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75" b="0" dirty="0" err="1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контроллера</a:t>
            </a:r>
            <a:r>
              <a:rPr sz="1575" b="0" dirty="0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A6E82679-B123-40E0-B12A-79A71896AA9A}"/>
              </a:ext>
            </a:extLst>
          </p:cNvPr>
          <p:cNvSpPr>
            <a:spLocks noGrp="1"/>
          </p:cNvSpPr>
          <p:nvPr/>
        </p:nvSpPr>
        <p:spPr>
          <a:xfrm>
            <a:off x="685800" y="3581400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3978A8"/>
          </a:solidFill>
          <a:ln w="0">
            <a:noFill/>
            <a:prstDash val="solid"/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1BA4D9EF-9173-440E-97A0-BD96AF90B159}"/>
              </a:ext>
            </a:extLst>
          </p:cNvPr>
          <p:cNvSpPr>
            <a:spLocks noGrp="1"/>
          </p:cNvSpPr>
          <p:nvPr/>
        </p:nvSpPr>
        <p:spPr>
          <a:xfrm>
            <a:off x="1028700" y="3514725"/>
            <a:ext cx="6096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575" b="0" dirty="0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422 </a:t>
            </a:r>
            <a:r>
              <a:rPr sz="1575" b="0" dirty="0" err="1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сообщает</a:t>
            </a:r>
            <a:r>
              <a:rPr sz="1575" b="0" dirty="0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о </a:t>
            </a:r>
            <a:r>
              <a:rPr sz="1575" b="0" dirty="0" err="1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недопустимых</a:t>
            </a:r>
            <a:r>
              <a:rPr sz="1575" b="0" dirty="0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75" b="0" dirty="0" err="1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значениях</a:t>
            </a:r>
            <a:r>
              <a:rPr sz="1575" b="0" dirty="0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404 </a:t>
            </a:r>
            <a:r>
              <a:rPr lang="ru-RU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–</a:t>
            </a:r>
            <a:r>
              <a:rPr sz="1575" b="0" dirty="0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75" b="0" dirty="0" err="1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об</a:t>
            </a:r>
            <a:r>
              <a:rPr sz="1575" b="0" dirty="0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75" b="0" dirty="0" err="1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отсутствующем</a:t>
            </a:r>
            <a:r>
              <a:rPr sz="1575" b="0" dirty="0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575" b="0" dirty="0" err="1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ресурсе</a:t>
            </a:r>
            <a:r>
              <a:rPr sz="1575" b="0" dirty="0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B5673EE6-F6D8-44B5-98C8-A07BFD13F46C}"/>
              </a:ext>
            </a:extLst>
          </p:cNvPr>
          <p:cNvSpPr>
            <a:spLocks noGrp="1"/>
          </p:cNvSpPr>
          <p:nvPr/>
        </p:nvSpPr>
        <p:spPr>
          <a:xfrm>
            <a:off x="685800" y="4610100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69B8C8"/>
          </a:solidFill>
          <a:ln w="0">
            <a:noFill/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F14D963-9ECA-4F95-B4AA-E4231793931B}"/>
              </a:ext>
            </a:extLst>
          </p:cNvPr>
          <p:cNvSpPr>
            <a:spLocks noGrp="1"/>
          </p:cNvSpPr>
          <p:nvPr/>
        </p:nvSpPr>
        <p:spPr>
          <a:xfrm>
            <a:off x="1028700" y="4543425"/>
            <a:ext cx="6096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После отказа нужно проверить, что база не получила ошибочное изменение.</a:t>
            </a: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2983AB62-6F46-4CB1-9FB4-95AC3D7C3B0B}"/>
              </a:ext>
            </a:extLst>
          </p:cNvPr>
          <p:cNvSpPr>
            <a:spLocks noGrp="1"/>
          </p:cNvSpPr>
          <p:nvPr/>
        </p:nvSpPr>
        <p:spPr>
          <a:xfrm>
            <a:off x="7658100" y="1524000"/>
            <a:ext cx="3848100" cy="2133600"/>
          </a:xfrm>
          <a:prstGeom prst="roundRect">
            <a:avLst>
              <a:gd name="adj" fmla="val 3571"/>
            </a:avLst>
          </a:prstGeom>
          <a:solidFill>
            <a:srgbClr val="EAF4F8"/>
          </a:solidFill>
          <a:ln w="0">
            <a:noFill/>
            <a:prstDash val="solid"/>
          </a:ln>
        </p:spPr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FC61860C-A3D4-4473-82A6-81A390FEDD0A}"/>
              </a:ext>
            </a:extLst>
          </p:cNvPr>
          <p:cNvSpPr>
            <a:spLocks noGrp="1"/>
          </p:cNvSpPr>
          <p:nvPr/>
        </p:nvSpPr>
        <p:spPr>
          <a:xfrm>
            <a:off x="7848600" y="1676400"/>
            <a:ext cx="3467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978A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Вопрос на выход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3069E66-13DE-4C6F-9818-596DEB4DB53E}"/>
              </a:ext>
            </a:extLst>
          </p:cNvPr>
          <p:cNvSpPr>
            <a:spLocks noGrp="1"/>
          </p:cNvSpPr>
          <p:nvPr/>
        </p:nvSpPr>
        <p:spPr>
          <a:xfrm>
            <a:off x="7848600" y="2019300"/>
            <a:ext cx="346710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Какой статус вы ожидаете для пустого title? А для несуществующего id?</a:t>
            </a:r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B71CD196-F320-4ADD-ACE1-F63BF548C1C1}"/>
              </a:ext>
            </a:extLst>
          </p:cNvPr>
          <p:cNvSpPr>
            <a:spLocks noGrp="1"/>
          </p:cNvSpPr>
          <p:nvPr/>
        </p:nvSpPr>
        <p:spPr>
          <a:xfrm>
            <a:off x="7658100" y="3905250"/>
            <a:ext cx="3848100" cy="1333500"/>
          </a:xfrm>
          <a:prstGeom prst="roundRect">
            <a:avLst>
              <a:gd name="adj" fmla="val 5714"/>
            </a:avLst>
          </a:prstGeom>
          <a:solidFill>
            <a:srgbClr val="E9F5EF"/>
          </a:solidFill>
          <a:ln w="0">
            <a:noFill/>
            <a:prstDash val="solid"/>
          </a:ln>
        </p:spPr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0A80EE85-AE16-4661-97EB-7FBE2D5FAD2B}"/>
              </a:ext>
            </a:extLst>
          </p:cNvPr>
          <p:cNvSpPr>
            <a:spLocks noGrp="1"/>
          </p:cNvSpPr>
          <p:nvPr/>
        </p:nvSpPr>
        <p:spPr>
          <a:xfrm>
            <a:off x="7848600" y="4057650"/>
            <a:ext cx="3467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978A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Переход к следующей теме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B38D8CD0-A826-40F8-A093-DA14BC1404C3}"/>
              </a:ext>
            </a:extLst>
          </p:cNvPr>
          <p:cNvSpPr>
            <a:spLocks noGrp="1"/>
          </p:cNvSpPr>
          <p:nvPr/>
        </p:nvSpPr>
        <p:spPr>
          <a:xfrm>
            <a:off x="7848600" y="4400550"/>
            <a:ext cx="34671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36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Далее в Git фиксируются завершённые и проверенные изменения проекта.</a:t>
            </a:r>
          </a:p>
        </p:txBody>
      </p:sp>
    </p:spTree>
    <p:extLst>
      <p:ext uri="{BB962C8B-B14F-4D97-AF65-F5344CB8AC3E}">
        <p14:creationId xmlns:p14="http://schemas.microsoft.com/office/powerpoint/2010/main" val="16808099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1192</Words>
  <Application>Microsoft Office PowerPoint</Application>
  <DocSecurity>0</DocSecurity>
  <PresentationFormat>Широкоэкранный</PresentationFormat>
  <Paragraphs>175</Paragraphs>
  <Slides>11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5" baseType="lpstr">
      <vt:lpstr>Aptos</vt:lpstr>
      <vt:lpstr>Arial</vt:lpstr>
      <vt:lpstr>Consolas</vt:lpstr>
      <vt:lpstr>ChatGPT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cp:lastModifiedBy>Алёна Александрова</cp:lastModifiedBy>
  <cp:revision>1</cp:revision>
  <dcterms:created xsi:type="dcterms:W3CDTF">2026-10-25T10:42:52Z</dcterms:created>
  <dcterms:modified xsi:type="dcterms:W3CDTF">2026-10-25T10:55:42Z</dcterms:modified>
</cp:coreProperties>
</file>